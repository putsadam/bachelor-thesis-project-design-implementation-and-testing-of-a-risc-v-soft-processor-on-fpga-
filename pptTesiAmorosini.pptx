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handoutMasterIdLst>
    <p:handoutMasterId r:id="rId16"/>
  </p:handoutMasterIdLst>
  <p:sldIdLst>
    <p:sldId id="269" r:id="rId2"/>
    <p:sldId id="270" r:id="rId3"/>
    <p:sldId id="272" r:id="rId4"/>
    <p:sldId id="274" r:id="rId5"/>
    <p:sldId id="278" r:id="rId6"/>
    <p:sldId id="279" r:id="rId7"/>
    <p:sldId id="280" r:id="rId8"/>
    <p:sldId id="275" r:id="rId9"/>
    <p:sldId id="282" r:id="rId10"/>
    <p:sldId id="281" r:id="rId11"/>
    <p:sldId id="283" r:id="rId12"/>
    <p:sldId id="276" r:id="rId13"/>
    <p:sldId id="277" r:id="rId1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pertina" id="{4F510939-D0AC-164E-B357-60387ADBE46F}">
          <p14:sldIdLst>
            <p14:sldId id="269"/>
          </p14:sldIdLst>
        </p14:section>
        <p14:section name="Corpo" id="{8FDCF513-67CD-CE43-B3E9-27EA4F47ED09}">
          <p14:sldIdLst>
            <p14:sldId id="270"/>
            <p14:sldId id="272"/>
            <p14:sldId id="274"/>
            <p14:sldId id="278"/>
            <p14:sldId id="279"/>
            <p14:sldId id="280"/>
            <p14:sldId id="275"/>
            <p14:sldId id="282"/>
            <p14:sldId id="281"/>
            <p14:sldId id="283"/>
            <p14:sldId id="276"/>
          </p14:sldIdLst>
        </p14:section>
        <p14:section name="Ringraziamenti" id="{86F08CA3-9FD5-6C45-BF3F-AF6B117ECB33}">
          <p14:sldIdLst>
            <p14:sldId id="2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C6A"/>
    <a:srgbClr val="028196"/>
    <a:srgbClr val="FCFCFC"/>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51"/>
    <p:restoredTop sz="96827"/>
  </p:normalViewPr>
  <p:slideViewPr>
    <p:cSldViewPr snapToGrid="0">
      <p:cViewPr varScale="1">
        <p:scale>
          <a:sx n="82" d="100"/>
          <a:sy n="82" d="100"/>
        </p:scale>
        <p:origin x="744"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113" d="100"/>
          <a:sy n="113" d="100"/>
        </p:scale>
        <p:origin x="3968"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Silvano Vergura" userId="f22b25c9-2da3-49c7-b3fc-a913dc516d07" providerId="ADAL" clId="{2C6AB4BF-E7A8-42AE-83B6-C8083FC1C7C2}"/>
    <pc:docChg chg="custSel modSld">
      <pc:chgData name="Prof. Silvano Vergura" userId="f22b25c9-2da3-49c7-b3fc-a913dc516d07" providerId="ADAL" clId="{2C6AB4BF-E7A8-42AE-83B6-C8083FC1C7C2}" dt="2025-05-07T08:30:25.952" v="31" actId="6549"/>
      <pc:docMkLst>
        <pc:docMk/>
      </pc:docMkLst>
      <pc:sldChg chg="modSp mod">
        <pc:chgData name="Prof. Silvano Vergura" userId="f22b25c9-2da3-49c7-b3fc-a913dc516d07" providerId="ADAL" clId="{2C6AB4BF-E7A8-42AE-83B6-C8083FC1C7C2}" dt="2025-05-07T08:29:08.873" v="21" actId="6549"/>
        <pc:sldMkLst>
          <pc:docMk/>
          <pc:sldMk cId="1910364769" sldId="269"/>
        </pc:sldMkLst>
        <pc:spChg chg="mod">
          <ac:chgData name="Prof. Silvano Vergura" userId="f22b25c9-2da3-49c7-b3fc-a913dc516d07" providerId="ADAL" clId="{2C6AB4BF-E7A8-42AE-83B6-C8083FC1C7C2}" dt="2025-05-07T08:28:56.354" v="15" actId="1076"/>
          <ac:spMkLst>
            <pc:docMk/>
            <pc:sldMk cId="1910364769" sldId="269"/>
            <ac:spMk id="3" creationId="{D29E2724-DA63-30A1-70D6-AE76140FFF83}"/>
          </ac:spMkLst>
        </pc:spChg>
        <pc:spChg chg="mod">
          <ac:chgData name="Prof. Silvano Vergura" userId="f22b25c9-2da3-49c7-b3fc-a913dc516d07" providerId="ADAL" clId="{2C6AB4BF-E7A8-42AE-83B6-C8083FC1C7C2}" dt="2025-05-07T08:29:08.873" v="21" actId="6549"/>
          <ac:spMkLst>
            <pc:docMk/>
            <pc:sldMk cId="1910364769" sldId="269"/>
            <ac:spMk id="4" creationId="{3BFA236C-4A41-93DA-A405-65C058B111B3}"/>
          </ac:spMkLst>
        </pc:spChg>
      </pc:sldChg>
      <pc:sldChg chg="modSp mod">
        <pc:chgData name="Prof. Silvano Vergura" userId="f22b25c9-2da3-49c7-b3fc-a913dc516d07" providerId="ADAL" clId="{2C6AB4BF-E7A8-42AE-83B6-C8083FC1C7C2}" dt="2025-05-07T08:29:53.248" v="22" actId="14100"/>
        <pc:sldMkLst>
          <pc:docMk/>
          <pc:sldMk cId="902983958" sldId="270"/>
        </pc:sldMkLst>
        <pc:spChg chg="mod">
          <ac:chgData name="Prof. Silvano Vergura" userId="f22b25c9-2da3-49c7-b3fc-a913dc516d07" providerId="ADAL" clId="{2C6AB4BF-E7A8-42AE-83B6-C8083FC1C7C2}" dt="2025-05-07T08:29:53.248" v="22" actId="14100"/>
          <ac:spMkLst>
            <pc:docMk/>
            <pc:sldMk cId="902983958" sldId="270"/>
            <ac:spMk id="6" creationId="{3EABE1D8-1AB8-3CCE-83C2-C11D0C0EDE96}"/>
          </ac:spMkLst>
        </pc:spChg>
      </pc:sldChg>
      <pc:sldChg chg="modSp mod">
        <pc:chgData name="Prof. Silvano Vergura" userId="f22b25c9-2da3-49c7-b3fc-a913dc516d07" providerId="ADAL" clId="{2C6AB4BF-E7A8-42AE-83B6-C8083FC1C7C2}" dt="2025-05-07T08:30:25.952" v="31" actId="6549"/>
        <pc:sldMkLst>
          <pc:docMk/>
          <pc:sldMk cId="1392070988" sldId="274"/>
        </pc:sldMkLst>
        <pc:spChg chg="mod">
          <ac:chgData name="Prof. Silvano Vergura" userId="f22b25c9-2da3-49c7-b3fc-a913dc516d07" providerId="ADAL" clId="{2C6AB4BF-E7A8-42AE-83B6-C8083FC1C7C2}" dt="2025-05-07T08:30:25.952" v="31" actId="6549"/>
          <ac:spMkLst>
            <pc:docMk/>
            <pc:sldMk cId="1392070988" sldId="274"/>
            <ac:spMk id="2" creationId="{41BA14C9-B967-D8F8-B674-8E974942DC10}"/>
          </ac:spMkLst>
        </pc:spChg>
      </pc:sldChg>
    </pc:docChg>
  </pc:docChgLst>
  <pc:docChgLst>
    <pc:chgData name="Silvano Vergura" userId="f22b25c9-2da3-49c7-b3fc-a913dc516d07" providerId="ADAL" clId="{E1794B5A-4981-491A-BFB0-F005226BECBB}"/>
    <pc:docChg chg="modSld">
      <pc:chgData name="Silvano Vergura" userId="f22b25c9-2da3-49c7-b3fc-a913dc516d07" providerId="ADAL" clId="{E1794B5A-4981-491A-BFB0-F005226BECBB}" dt="2024-11-06T09:28:40.727" v="17" actId="6549"/>
      <pc:docMkLst>
        <pc:docMk/>
      </pc:docMkLst>
      <pc:sldChg chg="modSp mod">
        <pc:chgData name="Silvano Vergura" userId="f22b25c9-2da3-49c7-b3fc-a913dc516d07" providerId="ADAL" clId="{E1794B5A-4981-491A-BFB0-F005226BECBB}" dt="2024-11-06T09:28:37.308" v="15" actId="6549"/>
        <pc:sldMkLst>
          <pc:docMk/>
          <pc:sldMk cId="1392070988" sldId="274"/>
        </pc:sldMkLst>
      </pc:sldChg>
      <pc:sldChg chg="modSp mod">
        <pc:chgData name="Silvano Vergura" userId="f22b25c9-2da3-49c7-b3fc-a913dc516d07" providerId="ADAL" clId="{E1794B5A-4981-491A-BFB0-F005226BECBB}" dt="2024-11-06T09:28:40.727" v="17" actId="6549"/>
        <pc:sldMkLst>
          <pc:docMk/>
          <pc:sldMk cId="369535976" sldId="275"/>
        </pc:sldMkLst>
      </pc:sldChg>
      <pc:sldChg chg="modSp mod">
        <pc:chgData name="Silvano Vergura" userId="f22b25c9-2da3-49c7-b3fc-a913dc516d07" providerId="ADAL" clId="{E1794B5A-4981-491A-BFB0-F005226BECBB}" dt="2024-11-06T09:27:02.661" v="5" actId="20577"/>
        <pc:sldMkLst>
          <pc:docMk/>
          <pc:sldMk cId="2687174899" sldId="276"/>
        </pc:sldMkLst>
      </pc:sldChg>
    </pc:docChg>
  </pc:docChgLst>
  <pc:docChgLst>
    <pc:chgData name="Silvano Vergura" userId="f22b25c9-2da3-49c7-b3fc-a913dc516d07" providerId="ADAL" clId="{64856034-2F74-48BD-B4E2-31F3083D2D21}"/>
    <pc:docChg chg="modSld">
      <pc:chgData name="Silvano Vergura" userId="f22b25c9-2da3-49c7-b3fc-a913dc516d07" providerId="ADAL" clId="{64856034-2F74-48BD-B4E2-31F3083D2D21}" dt="2024-04-18T10:30:03.066" v="1" actId="20577"/>
      <pc:docMkLst>
        <pc:docMk/>
      </pc:docMkLst>
      <pc:sldChg chg="modSp mod">
        <pc:chgData name="Silvano Vergura" userId="f22b25c9-2da3-49c7-b3fc-a913dc516d07" providerId="ADAL" clId="{64856034-2F74-48BD-B4E2-31F3083D2D21}" dt="2024-04-18T10:30:03.066" v="1" actId="20577"/>
        <pc:sldMkLst>
          <pc:docMk/>
          <pc:sldMk cId="1910364769" sldId="26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BA7669DC-278F-0434-E853-1742793D4F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CE809EC2-9091-D2A8-FA90-A932B5D4EB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B4DB76-D8DD-8648-A88B-3A8B95F6486A}" type="datetimeFigureOut">
              <a:rPr lang="it-IT" smtClean="0"/>
              <a:t>08/07/2026</a:t>
            </a:fld>
            <a:endParaRPr lang="it-IT"/>
          </a:p>
        </p:txBody>
      </p:sp>
      <p:sp>
        <p:nvSpPr>
          <p:cNvPr id="4" name="Segnaposto piè di pagina 3">
            <a:extLst>
              <a:ext uri="{FF2B5EF4-FFF2-40B4-BE49-F238E27FC236}">
                <a16:creationId xmlns:a16="http://schemas.microsoft.com/office/drawing/2014/main" id="{B79DAEC7-C92F-A843-6117-A68C01B3D97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F4459B3E-8160-FEC0-F999-FDEB0495D8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5C7244-616B-FD4E-81D2-F00E620A4339}" type="slidenum">
              <a:rPr lang="it-IT" smtClean="0"/>
              <a:t>‹N›</a:t>
            </a:fld>
            <a:endParaRPr lang="it-IT"/>
          </a:p>
        </p:txBody>
      </p:sp>
    </p:spTree>
    <p:extLst>
      <p:ext uri="{BB962C8B-B14F-4D97-AF65-F5344CB8AC3E}">
        <p14:creationId xmlns:p14="http://schemas.microsoft.com/office/powerpoint/2010/main" val="276897815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DC9319-790D-424A-B808-E2EE002AEB3A}" type="datetimeFigureOut">
              <a:rPr lang="it-IT" smtClean="0"/>
              <a:t>08/07/2026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10F5B3-1515-454B-A62F-308271382BEE}" type="slidenum">
              <a:rPr lang="it-IT" smtClean="0"/>
              <a:t>‹N›</a:t>
            </a:fld>
            <a:endParaRPr lang="it-IT"/>
          </a:p>
        </p:txBody>
      </p:sp>
    </p:spTree>
    <p:extLst>
      <p:ext uri="{BB962C8B-B14F-4D97-AF65-F5344CB8AC3E}">
        <p14:creationId xmlns:p14="http://schemas.microsoft.com/office/powerpoint/2010/main" val="2649486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7875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ertina">
    <p:spTree>
      <p:nvGrpSpPr>
        <p:cNvPr id="1" name=""/>
        <p:cNvGrpSpPr/>
        <p:nvPr/>
      </p:nvGrpSpPr>
      <p:grpSpPr>
        <a:xfrm>
          <a:off x="0" y="0"/>
          <a:ext cx="0" cy="0"/>
          <a:chOff x="0" y="0"/>
          <a:chExt cx="0" cy="0"/>
        </a:xfrm>
      </p:grpSpPr>
      <p:pic>
        <p:nvPicPr>
          <p:cNvPr id="2" name="Immagine 1" descr="Immagine che contiene Elementi grafici, Carattere, testo, grafica&#10;&#10;Descrizione generata automaticamente">
            <a:extLst>
              <a:ext uri="{FF2B5EF4-FFF2-40B4-BE49-F238E27FC236}">
                <a16:creationId xmlns:a16="http://schemas.microsoft.com/office/drawing/2014/main" id="{0E8A1A7E-2C0E-1CF9-7178-503AD3430742}"/>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pic>
        <p:nvPicPr>
          <p:cNvPr id="4" name="Immagine 3" descr="Immagine che contiene Carattere, Elementi grafici, schermata, logo&#10;&#10;Descrizione generata automaticamente">
            <a:extLst>
              <a:ext uri="{FF2B5EF4-FFF2-40B4-BE49-F238E27FC236}">
                <a16:creationId xmlns:a16="http://schemas.microsoft.com/office/drawing/2014/main" id="{C72EFB51-4559-E39D-310F-3C68A5EDC1C6}"/>
              </a:ext>
            </a:extLst>
          </p:cNvPr>
          <p:cNvPicPr>
            <a:picLocks noChangeAspect="1"/>
          </p:cNvPicPr>
          <p:nvPr userDrawn="1"/>
        </p:nvPicPr>
        <p:blipFill>
          <a:blip r:embed="rId3"/>
          <a:stretch>
            <a:fillRect/>
          </a:stretch>
        </p:blipFill>
        <p:spPr>
          <a:xfrm>
            <a:off x="1418190" y="783983"/>
            <a:ext cx="3897215" cy="1155844"/>
          </a:xfrm>
          <a:prstGeom prst="rect">
            <a:avLst/>
          </a:prstGeom>
        </p:spPr>
      </p:pic>
    </p:spTree>
    <p:extLst>
      <p:ext uri="{BB962C8B-B14F-4D97-AF65-F5344CB8AC3E}">
        <p14:creationId xmlns:p14="http://schemas.microsoft.com/office/powerpoint/2010/main" val="30703920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dice">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Indice</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57671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to dell'arte">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Stato dell’arte</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73970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biettivo della tesi">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Obiettivo della tesi</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39168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isultati">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Risultati</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1200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clusioni">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Conclusioni</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5241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ngraziamenti">
    <p:spTree>
      <p:nvGrpSpPr>
        <p:cNvPr id="1" name=""/>
        <p:cNvGrpSpPr/>
        <p:nvPr/>
      </p:nvGrpSpPr>
      <p:grpSpPr>
        <a:xfrm>
          <a:off x="0" y="0"/>
          <a:ext cx="0" cy="0"/>
          <a:chOff x="0" y="0"/>
          <a:chExt cx="0" cy="0"/>
        </a:xfrm>
      </p:grpSpPr>
      <p:pic>
        <p:nvPicPr>
          <p:cNvPr id="2" name="Immagine 1" descr="Immagine che contiene Elementi grafici, Carattere, testo, grafica&#10;&#10;Descrizione generata automaticamente">
            <a:extLst>
              <a:ext uri="{FF2B5EF4-FFF2-40B4-BE49-F238E27FC236}">
                <a16:creationId xmlns:a16="http://schemas.microsoft.com/office/drawing/2014/main" id="{0E8A1A7E-2C0E-1CF9-7178-503AD3430742}"/>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3" name="Sottotitolo 2">
            <a:extLst>
              <a:ext uri="{FF2B5EF4-FFF2-40B4-BE49-F238E27FC236}">
                <a16:creationId xmlns:a16="http://schemas.microsoft.com/office/drawing/2014/main" id="{C6923E67-9CEB-648B-A35A-317A17979CBC}"/>
              </a:ext>
            </a:extLst>
          </p:cNvPr>
          <p:cNvSpPr txBox="1"/>
          <p:nvPr userDrawn="1"/>
        </p:nvSpPr>
        <p:spPr>
          <a:xfrm>
            <a:off x="1423292" y="1446065"/>
            <a:ext cx="9335209" cy="330378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3200" b="1" dirty="0">
                <a:solidFill>
                  <a:srgbClr val="193C6A"/>
                </a:solidFill>
                <a:latin typeface="Times New Roman" panose="02020603050405020304" pitchFamily="18" charset="0"/>
                <a:cs typeface="Times New Roman" panose="02020603050405020304" pitchFamily="18" charset="0"/>
              </a:rPr>
              <a:t>Grazie per l’attenzione!</a:t>
            </a:r>
          </a:p>
        </p:txBody>
      </p:sp>
    </p:spTree>
    <p:extLst>
      <p:ext uri="{BB962C8B-B14F-4D97-AF65-F5344CB8AC3E}">
        <p14:creationId xmlns:p14="http://schemas.microsoft.com/office/powerpoint/2010/main" val="34483718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87A7D62-7729-4CE8-BEFF-A516B3887ED2}"/>
              </a:ext>
            </a:extLst>
          </p:cNvPr>
          <p:cNvSpPr>
            <a:spLocks noGrp="1"/>
          </p:cNvSpPr>
          <p:nvPr>
            <p:ph type="title"/>
          </p:nvPr>
        </p:nvSpPr>
        <p:spPr>
          <a:xfrm>
            <a:off x="838200" y="365125"/>
            <a:ext cx="10515600" cy="1325563"/>
          </a:xfrm>
          <a:prstGeom prst="rect">
            <a:avLst/>
          </a:prstGeom>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6EFAD38-87E7-19F3-4D69-666D47FAC74C}"/>
              </a:ext>
            </a:extLst>
          </p:cNvPr>
          <p:cNvSpPr>
            <a:spLocks noGrp="1"/>
          </p:cNvSpPr>
          <p:nvPr>
            <p:ph idx="1"/>
          </p:nvPr>
        </p:nvSpPr>
        <p:spPr>
          <a:xfrm>
            <a:off x="838200" y="1825625"/>
            <a:ext cx="10515600" cy="435133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22BCD1A-20D1-B10F-0834-2F18F77F3D90}"/>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08/07/2026</a:t>
            </a:fld>
            <a:endParaRPr lang="it-IT"/>
          </a:p>
        </p:txBody>
      </p:sp>
      <p:sp>
        <p:nvSpPr>
          <p:cNvPr id="5" name="Segnaposto piè di pagina 4">
            <a:extLst>
              <a:ext uri="{FF2B5EF4-FFF2-40B4-BE49-F238E27FC236}">
                <a16:creationId xmlns:a16="http://schemas.microsoft.com/office/drawing/2014/main" id="{92196130-F6E6-BC23-FDE3-FB17294FD556}"/>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a:extLst>
              <a:ext uri="{FF2B5EF4-FFF2-40B4-BE49-F238E27FC236}">
                <a16:creationId xmlns:a16="http://schemas.microsoft.com/office/drawing/2014/main" id="{A0356912-100F-FCCE-7399-04F2E6C4C915}"/>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‹N›</a:t>
            </a:fld>
            <a:endParaRPr lang="it-IT"/>
          </a:p>
        </p:txBody>
      </p:sp>
    </p:spTree>
    <p:extLst>
      <p:ext uri="{BB962C8B-B14F-4D97-AF65-F5344CB8AC3E}">
        <p14:creationId xmlns:p14="http://schemas.microsoft.com/office/powerpoint/2010/main" val="3624666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09B302-275E-7262-905D-04AA6E5E041F}"/>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8C2B44E6-D609-4065-D637-C02499BC5304}"/>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48CB955-EA5D-8D54-E39E-FC37BBACBDEF}"/>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08/07/2026</a:t>
            </a:fld>
            <a:endParaRPr lang="it-IT"/>
          </a:p>
        </p:txBody>
      </p:sp>
      <p:sp>
        <p:nvSpPr>
          <p:cNvPr id="5" name="Segnaposto piè di pagina 4">
            <a:extLst>
              <a:ext uri="{FF2B5EF4-FFF2-40B4-BE49-F238E27FC236}">
                <a16:creationId xmlns:a16="http://schemas.microsoft.com/office/drawing/2014/main" id="{7399C24E-F1C9-52CB-B736-FA1B556C6CEC}"/>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a:extLst>
              <a:ext uri="{FF2B5EF4-FFF2-40B4-BE49-F238E27FC236}">
                <a16:creationId xmlns:a16="http://schemas.microsoft.com/office/drawing/2014/main" id="{8364285C-2700-25AA-8107-0321690BDEEB}"/>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‹N›</a:t>
            </a:fld>
            <a:endParaRPr lang="it-IT"/>
          </a:p>
        </p:txBody>
      </p:sp>
    </p:spTree>
    <p:extLst>
      <p:ext uri="{BB962C8B-B14F-4D97-AF65-F5344CB8AC3E}">
        <p14:creationId xmlns:p14="http://schemas.microsoft.com/office/powerpoint/2010/main" val="3127694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673528-7083-874C-101C-BE6571492565}"/>
              </a:ext>
            </a:extLst>
          </p:cNvPr>
          <p:cNvSpPr>
            <a:spLocks noGrp="1"/>
          </p:cNvSpPr>
          <p:nvPr>
            <p:ph type="title"/>
          </p:nvPr>
        </p:nvSpPr>
        <p:spPr>
          <a:xfrm>
            <a:off x="838200" y="365125"/>
            <a:ext cx="10515600" cy="1325563"/>
          </a:xfrm>
          <a:prstGeom prst="rect">
            <a:avLst/>
          </a:prstGeom>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05B78D3-F679-64B5-F4D2-C038F998BBBF}"/>
              </a:ext>
            </a:extLst>
          </p:cNvPr>
          <p:cNvSpPr>
            <a:spLocks noGrp="1"/>
          </p:cNvSpPr>
          <p:nvPr>
            <p:ph sz="half" idx="1"/>
          </p:nvPr>
        </p:nvSpPr>
        <p:spPr>
          <a:xfrm>
            <a:off x="838200" y="1825625"/>
            <a:ext cx="5181600" cy="435133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C47238E1-A99F-F566-2D30-A1EE1040C5F6}"/>
              </a:ext>
            </a:extLst>
          </p:cNvPr>
          <p:cNvSpPr>
            <a:spLocks noGrp="1"/>
          </p:cNvSpPr>
          <p:nvPr>
            <p:ph sz="half" idx="2"/>
          </p:nvPr>
        </p:nvSpPr>
        <p:spPr>
          <a:xfrm>
            <a:off x="6172200" y="1825625"/>
            <a:ext cx="5181600" cy="435133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AA30B5A8-A6CB-7B8C-ADA1-88BACEFE7F1B}"/>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08/07/2026</a:t>
            </a:fld>
            <a:endParaRPr lang="it-IT"/>
          </a:p>
        </p:txBody>
      </p:sp>
      <p:sp>
        <p:nvSpPr>
          <p:cNvPr id="6" name="Segnaposto piè di pagina 5">
            <a:extLst>
              <a:ext uri="{FF2B5EF4-FFF2-40B4-BE49-F238E27FC236}">
                <a16:creationId xmlns:a16="http://schemas.microsoft.com/office/drawing/2014/main" id="{2798A60B-E32F-B864-2EB2-33BDAB754F45}"/>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7" name="Segnaposto numero diapositiva 6">
            <a:extLst>
              <a:ext uri="{FF2B5EF4-FFF2-40B4-BE49-F238E27FC236}">
                <a16:creationId xmlns:a16="http://schemas.microsoft.com/office/drawing/2014/main" id="{835EB647-7D11-1BAB-8F13-525B29F65E09}"/>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‹N›</a:t>
            </a:fld>
            <a:endParaRPr lang="it-IT"/>
          </a:p>
        </p:txBody>
      </p:sp>
    </p:spTree>
    <p:extLst>
      <p:ext uri="{BB962C8B-B14F-4D97-AF65-F5344CB8AC3E}">
        <p14:creationId xmlns:p14="http://schemas.microsoft.com/office/powerpoint/2010/main" val="3433259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5DB231-24E9-C68E-9E73-DCC13F0B9283}"/>
              </a:ext>
            </a:extLst>
          </p:cNvPr>
          <p:cNvSpPr>
            <a:spLocks noGrp="1"/>
          </p:cNvSpPr>
          <p:nvPr>
            <p:ph type="title"/>
          </p:nvPr>
        </p:nvSpPr>
        <p:spPr>
          <a:xfrm>
            <a:off x="839788" y="365125"/>
            <a:ext cx="10515600" cy="1325563"/>
          </a:xfrm>
          <a:prstGeom prst="rect">
            <a:avLst/>
          </a:prstGeo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8492FF60-4E87-0CEE-8F77-7F8CBB52C49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3AD5A017-39CE-42D9-B979-E89995193674}"/>
              </a:ext>
            </a:extLst>
          </p:cNvPr>
          <p:cNvSpPr>
            <a:spLocks noGrp="1"/>
          </p:cNvSpPr>
          <p:nvPr>
            <p:ph sz="half" idx="2"/>
          </p:nvPr>
        </p:nvSpPr>
        <p:spPr>
          <a:xfrm>
            <a:off x="839788" y="2505075"/>
            <a:ext cx="5157787" cy="368458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3CBF870-1890-AD2D-2499-5CE0EC9FBBC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1DECC671-E0E5-1831-0107-0528CA49527B}"/>
              </a:ext>
            </a:extLst>
          </p:cNvPr>
          <p:cNvSpPr>
            <a:spLocks noGrp="1"/>
          </p:cNvSpPr>
          <p:nvPr>
            <p:ph sz="quarter" idx="4"/>
          </p:nvPr>
        </p:nvSpPr>
        <p:spPr>
          <a:xfrm>
            <a:off x="6172200" y="2505075"/>
            <a:ext cx="5183188" cy="368458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5E18B612-F14B-B844-E511-483056936034}"/>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08/07/2026</a:t>
            </a:fld>
            <a:endParaRPr lang="it-IT"/>
          </a:p>
        </p:txBody>
      </p:sp>
      <p:sp>
        <p:nvSpPr>
          <p:cNvPr id="8" name="Segnaposto piè di pagina 7">
            <a:extLst>
              <a:ext uri="{FF2B5EF4-FFF2-40B4-BE49-F238E27FC236}">
                <a16:creationId xmlns:a16="http://schemas.microsoft.com/office/drawing/2014/main" id="{14D5F56B-4043-A108-C326-CF2D7F4B2AAC}"/>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9" name="Segnaposto numero diapositiva 8">
            <a:extLst>
              <a:ext uri="{FF2B5EF4-FFF2-40B4-BE49-F238E27FC236}">
                <a16:creationId xmlns:a16="http://schemas.microsoft.com/office/drawing/2014/main" id="{0BFE49C4-BB11-D20D-3CBC-34CCA620FF7C}"/>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‹N›</a:t>
            </a:fld>
            <a:endParaRPr lang="it-IT"/>
          </a:p>
        </p:txBody>
      </p:sp>
    </p:spTree>
    <p:extLst>
      <p:ext uri="{BB962C8B-B14F-4D97-AF65-F5344CB8AC3E}">
        <p14:creationId xmlns:p14="http://schemas.microsoft.com/office/powerpoint/2010/main" val="2919790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9408A5-23F7-3E62-02A0-DFE3DC9FFD2B}"/>
              </a:ext>
            </a:extLst>
          </p:cNvPr>
          <p:cNvSpPr>
            <a:spLocks noGrp="1"/>
          </p:cNvSpPr>
          <p:nvPr>
            <p:ph type="title"/>
          </p:nvPr>
        </p:nvSpPr>
        <p:spPr>
          <a:xfrm>
            <a:off x="838200" y="365125"/>
            <a:ext cx="10515600" cy="1325563"/>
          </a:xfrm>
          <a:prstGeom prst="rect">
            <a:avLst/>
          </a:prstGeom>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19089386-1F05-2B61-52EE-FE7D21770E14}"/>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08/07/2026</a:t>
            </a:fld>
            <a:endParaRPr lang="it-IT"/>
          </a:p>
        </p:txBody>
      </p:sp>
      <p:sp>
        <p:nvSpPr>
          <p:cNvPr id="4" name="Segnaposto piè di pagina 3">
            <a:extLst>
              <a:ext uri="{FF2B5EF4-FFF2-40B4-BE49-F238E27FC236}">
                <a16:creationId xmlns:a16="http://schemas.microsoft.com/office/drawing/2014/main" id="{099B3250-9E5C-4509-E0DA-8DD4D926B8FE}"/>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5" name="Segnaposto numero diapositiva 4">
            <a:extLst>
              <a:ext uri="{FF2B5EF4-FFF2-40B4-BE49-F238E27FC236}">
                <a16:creationId xmlns:a16="http://schemas.microsoft.com/office/drawing/2014/main" id="{5D36C5D3-0ADE-A31B-FAA1-347F35EC3ACE}"/>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‹N›</a:t>
            </a:fld>
            <a:endParaRPr lang="it-IT"/>
          </a:p>
        </p:txBody>
      </p:sp>
    </p:spTree>
    <p:extLst>
      <p:ext uri="{BB962C8B-B14F-4D97-AF65-F5344CB8AC3E}">
        <p14:creationId xmlns:p14="http://schemas.microsoft.com/office/powerpoint/2010/main" val="1786888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6771330-0818-A223-0E86-9874A9F6055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0FCC531-827C-DA3F-921F-E19D38962D7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7236DED3-2EFE-F62F-453B-05E2EEE0785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09BE502E-3D60-FF0B-3BB2-BA8B4047D058}"/>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08/07/2026</a:t>
            </a:fld>
            <a:endParaRPr lang="it-IT"/>
          </a:p>
        </p:txBody>
      </p:sp>
      <p:sp>
        <p:nvSpPr>
          <p:cNvPr id="6" name="Segnaposto piè di pagina 5">
            <a:extLst>
              <a:ext uri="{FF2B5EF4-FFF2-40B4-BE49-F238E27FC236}">
                <a16:creationId xmlns:a16="http://schemas.microsoft.com/office/drawing/2014/main" id="{801B96A5-13C9-40D2-19D4-92734DF13A21}"/>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7" name="Segnaposto numero diapositiva 6">
            <a:extLst>
              <a:ext uri="{FF2B5EF4-FFF2-40B4-BE49-F238E27FC236}">
                <a16:creationId xmlns:a16="http://schemas.microsoft.com/office/drawing/2014/main" id="{F08D28C9-F143-E911-8C77-E7348E466D52}"/>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‹N›</a:t>
            </a:fld>
            <a:endParaRPr lang="it-IT"/>
          </a:p>
        </p:txBody>
      </p:sp>
    </p:spTree>
    <p:extLst>
      <p:ext uri="{BB962C8B-B14F-4D97-AF65-F5344CB8AC3E}">
        <p14:creationId xmlns:p14="http://schemas.microsoft.com/office/powerpoint/2010/main" val="2196085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9FC0E0D-C1EB-8702-C13F-8EC63414EFF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EEDFCDA6-E97E-2406-B79B-702E9A8AA29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20140BBA-0D4B-89F0-D241-9EFEE70B494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675827F-20C7-C347-5B2B-E98AB5C7B8B4}"/>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08/07/2026</a:t>
            </a:fld>
            <a:endParaRPr lang="it-IT"/>
          </a:p>
        </p:txBody>
      </p:sp>
      <p:sp>
        <p:nvSpPr>
          <p:cNvPr id="6" name="Segnaposto piè di pagina 5">
            <a:extLst>
              <a:ext uri="{FF2B5EF4-FFF2-40B4-BE49-F238E27FC236}">
                <a16:creationId xmlns:a16="http://schemas.microsoft.com/office/drawing/2014/main" id="{F6AB3362-8C8A-7D4E-C9F9-78DE4350E478}"/>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7" name="Segnaposto numero diapositiva 6">
            <a:extLst>
              <a:ext uri="{FF2B5EF4-FFF2-40B4-BE49-F238E27FC236}">
                <a16:creationId xmlns:a16="http://schemas.microsoft.com/office/drawing/2014/main" id="{1D41C709-AF70-5943-8244-38B7FB1A9943}"/>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‹N›</a:t>
            </a:fld>
            <a:endParaRPr lang="it-IT"/>
          </a:p>
        </p:txBody>
      </p:sp>
    </p:spTree>
    <p:extLst>
      <p:ext uri="{BB962C8B-B14F-4D97-AF65-F5344CB8AC3E}">
        <p14:creationId xmlns:p14="http://schemas.microsoft.com/office/powerpoint/2010/main" val="3316143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52AB1F5-FB8B-25A2-E5B8-EF7BD8FBC215}"/>
              </a:ext>
            </a:extLst>
          </p:cNvPr>
          <p:cNvSpPr>
            <a:spLocks noGrp="1"/>
          </p:cNvSpPr>
          <p:nvPr>
            <p:ph type="title"/>
          </p:nvPr>
        </p:nvSpPr>
        <p:spPr>
          <a:xfrm>
            <a:off x="838200" y="365125"/>
            <a:ext cx="10515600" cy="1325563"/>
          </a:xfrm>
          <a:prstGeom prst="rect">
            <a:avLst/>
          </a:prstGeom>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8EA633C-8ABC-71DD-B01F-6303B529B9D6}"/>
              </a:ext>
            </a:extLst>
          </p:cNvPr>
          <p:cNvSpPr>
            <a:spLocks noGrp="1"/>
          </p:cNvSpPr>
          <p:nvPr>
            <p:ph type="body" orient="vert" idx="1"/>
          </p:nvPr>
        </p:nvSpPr>
        <p:spPr>
          <a:xfrm>
            <a:off x="838200" y="1825625"/>
            <a:ext cx="10515600" cy="4351338"/>
          </a:xfrm>
          <a:prstGeom prst="rect">
            <a:avLst/>
          </a:prstGeo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9AD06E-9CAD-0345-057B-37F235D71FC2}"/>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08/07/2026</a:t>
            </a:fld>
            <a:endParaRPr lang="it-IT"/>
          </a:p>
        </p:txBody>
      </p:sp>
      <p:sp>
        <p:nvSpPr>
          <p:cNvPr id="5" name="Segnaposto piè di pagina 4">
            <a:extLst>
              <a:ext uri="{FF2B5EF4-FFF2-40B4-BE49-F238E27FC236}">
                <a16:creationId xmlns:a16="http://schemas.microsoft.com/office/drawing/2014/main" id="{B9C4E9D0-74E0-A5F8-AE00-484121F2C1F7}"/>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a:extLst>
              <a:ext uri="{FF2B5EF4-FFF2-40B4-BE49-F238E27FC236}">
                <a16:creationId xmlns:a16="http://schemas.microsoft.com/office/drawing/2014/main" id="{41A6B9B6-D1F0-34B6-4A19-C155C9053BBF}"/>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‹N›</a:t>
            </a:fld>
            <a:endParaRPr lang="it-IT"/>
          </a:p>
        </p:txBody>
      </p:sp>
    </p:spTree>
    <p:extLst>
      <p:ext uri="{BB962C8B-B14F-4D97-AF65-F5344CB8AC3E}">
        <p14:creationId xmlns:p14="http://schemas.microsoft.com/office/powerpoint/2010/main" val="32737225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555ACBE1-45A3-D444-0DAC-DAFB34A01AC6}"/>
              </a:ext>
            </a:extLst>
          </p:cNvPr>
          <p:cNvSpPr>
            <a:spLocks noGrp="1"/>
          </p:cNvSpPr>
          <p:nvPr>
            <p:ph type="title" orient="vert"/>
          </p:nvPr>
        </p:nvSpPr>
        <p:spPr>
          <a:xfrm>
            <a:off x="8724900" y="365125"/>
            <a:ext cx="2628900" cy="5811838"/>
          </a:xfrm>
          <a:prstGeom prst="rect">
            <a:avLst/>
          </a:prstGeo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549CC98-6087-3385-36C6-3776CCEE3845}"/>
              </a:ext>
            </a:extLst>
          </p:cNvPr>
          <p:cNvSpPr>
            <a:spLocks noGrp="1"/>
          </p:cNvSpPr>
          <p:nvPr>
            <p:ph type="body" orient="vert" idx="1"/>
          </p:nvPr>
        </p:nvSpPr>
        <p:spPr>
          <a:xfrm>
            <a:off x="838200" y="365125"/>
            <a:ext cx="7734300" cy="5811838"/>
          </a:xfrm>
          <a:prstGeom prst="rect">
            <a:avLst/>
          </a:prstGeo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E9E38DB-A737-F097-1C5B-797FC8E48AD1}"/>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08/07/2026</a:t>
            </a:fld>
            <a:endParaRPr lang="it-IT"/>
          </a:p>
        </p:txBody>
      </p:sp>
      <p:sp>
        <p:nvSpPr>
          <p:cNvPr id="5" name="Segnaposto piè di pagina 4">
            <a:extLst>
              <a:ext uri="{FF2B5EF4-FFF2-40B4-BE49-F238E27FC236}">
                <a16:creationId xmlns:a16="http://schemas.microsoft.com/office/drawing/2014/main" id="{0DB3CC1D-6B1D-B8D1-2CA1-9814AF86A564}"/>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a:extLst>
              <a:ext uri="{FF2B5EF4-FFF2-40B4-BE49-F238E27FC236}">
                <a16:creationId xmlns:a16="http://schemas.microsoft.com/office/drawing/2014/main" id="{42BBB253-727C-8C2F-241B-C93D239B5D35}"/>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‹N›</a:t>
            </a:fld>
            <a:endParaRPr lang="it-IT"/>
          </a:p>
        </p:txBody>
      </p:sp>
    </p:spTree>
    <p:extLst>
      <p:ext uri="{BB962C8B-B14F-4D97-AF65-F5344CB8AC3E}">
        <p14:creationId xmlns:p14="http://schemas.microsoft.com/office/powerpoint/2010/main" val="2277867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27427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49" r:id="rId3"/>
    <p:sldLayoutId id="2147483663" r:id="rId4"/>
    <p:sldLayoutId id="2147483664" r:id="rId5"/>
    <p:sldLayoutId id="2147483665" r:id="rId6"/>
    <p:sldLayoutId id="2147483666" r:id="rId7"/>
    <p:sldLayoutId id="2147483667" r:id="rId8"/>
    <p:sldLayoutId id="2147483650" r:id="rId9"/>
    <p:sldLayoutId id="2147483651" r:id="rId10"/>
    <p:sldLayoutId id="2147483652" r:id="rId11"/>
    <p:sldLayoutId id="2147483653" r:id="rId12"/>
    <p:sldLayoutId id="2147483654" r:id="rId13"/>
    <p:sldLayoutId id="2147483656" r:id="rId14"/>
    <p:sldLayoutId id="2147483657" r:id="rId15"/>
    <p:sldLayoutId id="2147483658" r:id="rId16"/>
    <p:sldLayoutId id="2147483659"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2">
            <a:extLst>
              <a:ext uri="{FF2B5EF4-FFF2-40B4-BE49-F238E27FC236}">
                <a16:creationId xmlns:a16="http://schemas.microsoft.com/office/drawing/2014/main" id="{F8F4FF0E-A5BB-8C72-BC4D-BDB4BC9B24BA}"/>
              </a:ext>
            </a:extLst>
          </p:cNvPr>
          <p:cNvSpPr txBox="1"/>
          <p:nvPr/>
        </p:nvSpPr>
        <p:spPr>
          <a:xfrm>
            <a:off x="1435649" y="1446065"/>
            <a:ext cx="9335209" cy="330378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32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3200" b="1" dirty="0">
                <a:solidFill>
                  <a:srgbClr val="193C6A"/>
                </a:solidFill>
                <a:latin typeface="Times New Roman" panose="02020603050405020304" pitchFamily="18" charset="0"/>
                <a:cs typeface="Times New Roman" panose="02020603050405020304" pitchFamily="18" charset="0"/>
              </a:rPr>
              <a:t>soft-processor RISC-V su FPGA</a:t>
            </a:r>
          </a:p>
        </p:txBody>
      </p:sp>
      <p:sp>
        <p:nvSpPr>
          <p:cNvPr id="3" name="Sottotitolo 2">
            <a:extLst>
              <a:ext uri="{FF2B5EF4-FFF2-40B4-BE49-F238E27FC236}">
                <a16:creationId xmlns:a16="http://schemas.microsoft.com/office/drawing/2014/main" id="{D29E2724-DA63-30A1-70D6-AE76140FFF83}"/>
              </a:ext>
            </a:extLst>
          </p:cNvPr>
          <p:cNvSpPr txBox="1">
            <a:spLocks/>
          </p:cNvSpPr>
          <p:nvPr/>
        </p:nvSpPr>
        <p:spPr>
          <a:xfrm>
            <a:off x="8812250" y="4821072"/>
            <a:ext cx="2654437" cy="856714"/>
          </a:xfrm>
          <a:prstGeom prst="rect">
            <a:avLst/>
          </a:prstGeom>
        </p:spPr>
        <p:txBody>
          <a:bodyPr vert="horz" lIns="91440" tIns="45720" rIns="91440" bIns="4572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600" b="1" dirty="0">
                <a:solidFill>
                  <a:srgbClr val="193C6A"/>
                </a:solidFill>
                <a:latin typeface="Times New Roman" panose="02020603050405020304" pitchFamily="18" charset="0"/>
                <a:cs typeface="Times New Roman" panose="02020603050405020304" pitchFamily="18" charset="0"/>
              </a:rPr>
              <a:t>Candidato</a:t>
            </a:r>
            <a:br>
              <a:rPr lang="it-IT" sz="1600" b="1" dirty="0">
                <a:solidFill>
                  <a:srgbClr val="193C6A"/>
                </a:solidFill>
                <a:latin typeface="Times New Roman" panose="02020603050405020304" pitchFamily="18" charset="0"/>
                <a:cs typeface="Times New Roman" panose="02020603050405020304" pitchFamily="18" charset="0"/>
              </a:rPr>
            </a:br>
            <a:r>
              <a:rPr lang="it-IT" sz="1600" dirty="0">
                <a:solidFill>
                  <a:srgbClr val="193C6A"/>
                </a:solidFill>
                <a:latin typeface="Times New Roman" panose="02020603050405020304" pitchFamily="18" charset="0"/>
                <a:cs typeface="Times New Roman" panose="02020603050405020304" pitchFamily="18" charset="0"/>
              </a:rPr>
              <a:t>Adriano Amorosini</a:t>
            </a:r>
          </a:p>
        </p:txBody>
      </p:sp>
      <p:sp>
        <p:nvSpPr>
          <p:cNvPr id="4" name="Sottotitolo 2">
            <a:extLst>
              <a:ext uri="{FF2B5EF4-FFF2-40B4-BE49-F238E27FC236}">
                <a16:creationId xmlns:a16="http://schemas.microsoft.com/office/drawing/2014/main" id="{3BFA236C-4A41-93DA-A405-65C058B111B3}"/>
              </a:ext>
            </a:extLst>
          </p:cNvPr>
          <p:cNvSpPr txBox="1"/>
          <p:nvPr/>
        </p:nvSpPr>
        <p:spPr>
          <a:xfrm>
            <a:off x="591670" y="4821072"/>
            <a:ext cx="4141695" cy="118172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600" b="1" dirty="0">
                <a:solidFill>
                  <a:srgbClr val="193C6A"/>
                </a:solidFill>
                <a:latin typeface="Times New Roman" panose="02020603050405020304" pitchFamily="18" charset="0"/>
                <a:cs typeface="Times New Roman" panose="02020603050405020304" pitchFamily="18" charset="0"/>
              </a:rPr>
              <a:t>Relatore</a:t>
            </a:r>
            <a:br>
              <a:rPr lang="it-IT" sz="1600" dirty="0">
                <a:solidFill>
                  <a:srgbClr val="193C6A"/>
                </a:solidFill>
                <a:latin typeface="Times New Roman" panose="02020603050405020304" pitchFamily="18" charset="0"/>
                <a:cs typeface="Times New Roman" panose="02020603050405020304" pitchFamily="18" charset="0"/>
              </a:rPr>
            </a:br>
            <a:r>
              <a:rPr lang="it-IT" sz="1600" dirty="0">
                <a:solidFill>
                  <a:srgbClr val="193C6A"/>
                </a:solidFill>
                <a:latin typeface="Times New Roman" panose="02020603050405020304" pitchFamily="18" charset="0"/>
                <a:cs typeface="Times New Roman" panose="02020603050405020304" pitchFamily="18" charset="0"/>
              </a:rPr>
              <a:t>Prof. Agostino Giorgio</a:t>
            </a:r>
          </a:p>
          <a:p>
            <a:pPr algn="r">
              <a:lnSpc>
                <a:spcPct val="100000"/>
              </a:lnSpc>
            </a:pPr>
            <a:endParaRPr lang="it-IT" sz="1800" b="1" dirty="0">
              <a:solidFill>
                <a:schemeClr val="bg1"/>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0C73CF0B-CF98-B3A2-339B-140232A9F946}"/>
              </a:ext>
            </a:extLst>
          </p:cNvPr>
          <p:cNvSpPr txBox="1"/>
          <p:nvPr/>
        </p:nvSpPr>
        <p:spPr>
          <a:xfrm>
            <a:off x="1421142" y="3755715"/>
            <a:ext cx="934286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800" dirty="0">
                <a:solidFill>
                  <a:srgbClr val="193C6A"/>
                </a:solidFill>
                <a:latin typeface="Times New Roman" panose="02020603050405020304" pitchFamily="18" charset="0"/>
                <a:cs typeface="Times New Roman" panose="02020603050405020304" pitchFamily="18" charset="0"/>
              </a:rPr>
              <a:t>Corso di Laurea in Ingegneria Elettronica e delle Tecnologie Internet</a:t>
            </a:r>
            <a:br>
              <a:rPr lang="it-IT" sz="1800" dirty="0">
                <a:solidFill>
                  <a:srgbClr val="193C6A"/>
                </a:solidFill>
                <a:latin typeface="Times New Roman" panose="02020603050405020304" pitchFamily="18" charset="0"/>
                <a:cs typeface="Times New Roman" panose="02020603050405020304" pitchFamily="18" charset="0"/>
              </a:rPr>
            </a:br>
            <a:r>
              <a:rPr lang="it-IT" sz="1800" dirty="0">
                <a:solidFill>
                  <a:srgbClr val="193C6A"/>
                </a:solidFill>
                <a:latin typeface="Times New Roman" panose="02020603050405020304" pitchFamily="18" charset="0"/>
                <a:cs typeface="Times New Roman" panose="02020603050405020304" pitchFamily="18" charset="0"/>
              </a:rPr>
              <a:t>Tesi in Fondamenti di Elettronica – Elettronica digitale</a:t>
            </a:r>
          </a:p>
        </p:txBody>
      </p:sp>
      <p:sp>
        <p:nvSpPr>
          <p:cNvPr id="6" name="Sottotitolo 2">
            <a:extLst>
              <a:ext uri="{FF2B5EF4-FFF2-40B4-BE49-F238E27FC236}">
                <a16:creationId xmlns:a16="http://schemas.microsoft.com/office/drawing/2014/main" id="{84D34E02-DF92-3914-9FB5-F2914D7D79C8}"/>
              </a:ext>
            </a:extLst>
          </p:cNvPr>
          <p:cNvSpPr txBox="1">
            <a:spLocks/>
          </p:cNvSpPr>
          <p:nvPr/>
        </p:nvSpPr>
        <p:spPr>
          <a:xfrm>
            <a:off x="9257124" y="1044393"/>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3FFBCB4D-957A-E535-4065-2997632AF5E7}"/>
              </a:ext>
            </a:extLst>
          </p:cNvPr>
          <p:cNvSpPr txBox="1">
            <a:spLocks/>
          </p:cNvSpPr>
          <p:nvPr/>
        </p:nvSpPr>
        <p:spPr>
          <a:xfrm>
            <a:off x="7755552" y="1044393"/>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pic>
        <p:nvPicPr>
          <p:cNvPr id="12" name="Immagine 11">
            <a:extLst>
              <a:ext uri="{FF2B5EF4-FFF2-40B4-BE49-F238E27FC236}">
                <a16:creationId xmlns:a16="http://schemas.microsoft.com/office/drawing/2014/main" id="{5A7456EA-12C3-1608-0E46-27DDF50F26E9}"/>
              </a:ext>
            </a:extLst>
          </p:cNvPr>
          <p:cNvPicPr>
            <a:picLocks noChangeAspect="1"/>
          </p:cNvPicPr>
          <p:nvPr/>
        </p:nvPicPr>
        <p:blipFill>
          <a:blip r:embed="rId2"/>
          <a:stretch>
            <a:fillRect/>
          </a:stretch>
        </p:blipFill>
        <p:spPr>
          <a:xfrm>
            <a:off x="7472286" y="1044393"/>
            <a:ext cx="2679928" cy="860943"/>
          </a:xfrm>
          <a:prstGeom prst="rect">
            <a:avLst/>
          </a:prstGeom>
        </p:spPr>
      </p:pic>
    </p:spTree>
    <p:extLst>
      <p:ext uri="{BB962C8B-B14F-4D97-AF65-F5344CB8AC3E}">
        <p14:creationId xmlns:p14="http://schemas.microsoft.com/office/powerpoint/2010/main" val="19103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CE8A1D28-4A6B-5F6D-516D-1ED2A6F4EF30}"/>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83490292-F46C-667D-51DE-105206A8D48B}"/>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6" name="Sottotitolo 2">
            <a:extLst>
              <a:ext uri="{FF2B5EF4-FFF2-40B4-BE49-F238E27FC236}">
                <a16:creationId xmlns:a16="http://schemas.microsoft.com/office/drawing/2014/main" id="{3EABE1D8-1AB8-3CCE-83C2-C11D0C0EDE96}"/>
              </a:ext>
            </a:extLst>
          </p:cNvPr>
          <p:cNvSpPr txBox="1"/>
          <p:nvPr/>
        </p:nvSpPr>
        <p:spPr>
          <a:xfrm>
            <a:off x="398206" y="1869942"/>
            <a:ext cx="10825606" cy="397804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Introduzione</a:t>
            </a:r>
          </a:p>
          <a:p>
            <a:pPr marL="342900" indent="-342900" algn="l">
              <a:lnSpc>
                <a:spcPct val="15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Stato dell’arte</a:t>
            </a:r>
          </a:p>
          <a:p>
            <a:pPr marL="342900" indent="-342900" algn="l">
              <a:lnSpc>
                <a:spcPct val="15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Obiettivo della tesi</a:t>
            </a:r>
          </a:p>
          <a:p>
            <a:pPr marL="342900" indent="-342900" algn="l">
              <a:lnSpc>
                <a:spcPct val="15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Contenuto della tesi</a:t>
            </a:r>
          </a:p>
          <a:p>
            <a:pPr marL="342900" indent="-342900" algn="l">
              <a:lnSpc>
                <a:spcPct val="15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Risultati</a:t>
            </a:r>
          </a:p>
          <a:p>
            <a:pPr marL="342900" indent="-342900" algn="l">
              <a:lnSpc>
                <a:spcPct val="15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Conclusioni</a:t>
            </a:r>
          </a:p>
        </p:txBody>
      </p:sp>
      <p:sp>
        <p:nvSpPr>
          <p:cNvPr id="7" name="Sottotitolo 2">
            <a:extLst>
              <a:ext uri="{FF2B5EF4-FFF2-40B4-BE49-F238E27FC236}">
                <a16:creationId xmlns:a16="http://schemas.microsoft.com/office/drawing/2014/main" id="{AFC65E8E-6B9F-C1F3-97CA-0A01688B76EF}"/>
              </a:ext>
            </a:extLst>
          </p:cNvPr>
          <p:cNvSpPr txBox="1"/>
          <p:nvPr/>
        </p:nvSpPr>
        <p:spPr>
          <a:xfrm>
            <a:off x="3664765" y="32102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618BCF95-01EB-FC7F-17DF-6F22E29D5B43}"/>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Adriano Amorosini</a:t>
            </a:r>
          </a:p>
        </p:txBody>
      </p:sp>
      <p:sp>
        <p:nvSpPr>
          <p:cNvPr id="9" name="Sottotitolo 2">
            <a:extLst>
              <a:ext uri="{FF2B5EF4-FFF2-40B4-BE49-F238E27FC236}">
                <a16:creationId xmlns:a16="http://schemas.microsoft.com/office/drawing/2014/main" id="{3B8A8E95-E465-8341-5BF9-39951F386B91}"/>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2/13</a:t>
            </a:r>
          </a:p>
        </p:txBody>
      </p:sp>
      <p:pic>
        <p:nvPicPr>
          <p:cNvPr id="10" name="Immagine 9">
            <a:extLst>
              <a:ext uri="{FF2B5EF4-FFF2-40B4-BE49-F238E27FC236}">
                <a16:creationId xmlns:a16="http://schemas.microsoft.com/office/drawing/2014/main" id="{A50C0223-10A6-DA03-0F32-9ADFD2EE1214}"/>
              </a:ext>
            </a:extLst>
          </p:cNvPr>
          <p:cNvPicPr>
            <a:picLocks noChangeAspect="1"/>
          </p:cNvPicPr>
          <p:nvPr/>
        </p:nvPicPr>
        <p:blipFill>
          <a:blip r:embed="rId2"/>
          <a:stretch>
            <a:fillRect/>
          </a:stretch>
        </p:blipFill>
        <p:spPr>
          <a:xfrm>
            <a:off x="9077274" y="85293"/>
            <a:ext cx="2323137" cy="746322"/>
          </a:xfrm>
          <a:prstGeom prst="rect">
            <a:avLst/>
          </a:prstGeom>
        </p:spPr>
      </p:pic>
    </p:spTree>
    <p:extLst>
      <p:ext uri="{BB962C8B-B14F-4D97-AF65-F5344CB8AC3E}">
        <p14:creationId xmlns:p14="http://schemas.microsoft.com/office/powerpoint/2010/main" val="902983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2">
            <a:extLst>
              <a:ext uri="{FF2B5EF4-FFF2-40B4-BE49-F238E27FC236}">
                <a16:creationId xmlns:a16="http://schemas.microsoft.com/office/drawing/2014/main" id="{D429C9B1-F96A-2FFC-538A-257783A90AF5}"/>
              </a:ext>
            </a:extLst>
          </p:cNvPr>
          <p:cNvSpPr txBox="1">
            <a:spLocks/>
          </p:cNvSpPr>
          <p:nvPr/>
        </p:nvSpPr>
        <p:spPr>
          <a:xfrm>
            <a:off x="6271309" y="1869942"/>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L’architettura di un calcolatore rappresenta il modello astratto del sistema accessibile al programmatore, definita principalmente dall’insieme delle istruzioni (</a:t>
            </a:r>
            <a:r>
              <a:rPr lang="it-IT" sz="1800" i="1" dirty="0" err="1">
                <a:solidFill>
                  <a:srgbClr val="193C6A"/>
                </a:solidFill>
                <a:latin typeface="Times New Roman" panose="02020603050405020304" pitchFamily="18" charset="0"/>
                <a:cs typeface="Times New Roman" panose="02020603050405020304" pitchFamily="18" charset="0"/>
              </a:rPr>
              <a:t>Instruction</a:t>
            </a:r>
            <a:r>
              <a:rPr lang="it-IT" sz="1800" i="1" dirty="0">
                <a:solidFill>
                  <a:srgbClr val="193C6A"/>
                </a:solidFill>
                <a:latin typeface="Times New Roman" panose="02020603050405020304" pitchFamily="18" charset="0"/>
                <a:cs typeface="Times New Roman" panose="02020603050405020304" pitchFamily="18" charset="0"/>
              </a:rPr>
              <a:t> set</a:t>
            </a:r>
            <a:r>
              <a:rPr lang="it-IT" sz="1800" dirty="0">
                <a:solidFill>
                  <a:srgbClr val="193C6A"/>
                </a:solidFill>
                <a:latin typeface="Times New Roman" panose="02020603050405020304" pitchFamily="18" charset="0"/>
                <a:cs typeface="Times New Roman" panose="02020603050405020304" pitchFamily="18" charset="0"/>
              </a:rPr>
              <a:t>) che la descrivono (e con cui vengono sviluppati tutti i programmi eseguibili su una determinata piattaforma) e dalle modalità di accesso agli operandi.</a:t>
            </a:r>
          </a:p>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RISC-V, introdotta nel 2010 presso l’Università della California, si distingue per la sua natura </a:t>
            </a:r>
            <a:r>
              <a:rPr lang="it-IT" sz="1800" i="1" dirty="0">
                <a:solidFill>
                  <a:srgbClr val="193C6A"/>
                </a:solidFill>
                <a:latin typeface="Times New Roman" panose="02020603050405020304" pitchFamily="18" charset="0"/>
                <a:cs typeface="Times New Roman" panose="02020603050405020304" pitchFamily="18" charset="0"/>
              </a:rPr>
              <a:t>open-source</a:t>
            </a:r>
            <a:r>
              <a:rPr lang="it-IT" sz="1800" dirty="0">
                <a:solidFill>
                  <a:srgbClr val="193C6A"/>
                </a:solidFill>
                <a:latin typeface="Times New Roman" panose="02020603050405020304" pitchFamily="18" charset="0"/>
                <a:cs typeface="Times New Roman" panose="02020603050405020304" pitchFamily="18" charset="0"/>
              </a:rPr>
              <a:t>, che ne consente l’utilizzo libero e la diffusione su larga scala. Nonostante ciò, essa offre funzionalità comparabili a quelle delle architetture commerciali più diffuse, rendendola una soluzione moderna e flessibile nel panorama dell’ingegneria dei calcolatori.</a:t>
            </a:r>
          </a:p>
        </p:txBody>
      </p:sp>
      <p:sp>
        <p:nvSpPr>
          <p:cNvPr id="3" name="Sottotitolo 2">
            <a:extLst>
              <a:ext uri="{FF2B5EF4-FFF2-40B4-BE49-F238E27FC236}">
                <a16:creationId xmlns:a16="http://schemas.microsoft.com/office/drawing/2014/main" id="{5DC9FBC7-FA4F-2623-CEF4-789E9E69C964}"/>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6AE865E1-7D31-9160-86FE-B96BCEFDB536}"/>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B3976FE9-476A-4171-2C23-E4C3D82B458C}"/>
              </a:ext>
            </a:extLst>
          </p:cNvPr>
          <p:cNvSpPr txBox="1"/>
          <p:nvPr/>
        </p:nvSpPr>
        <p:spPr>
          <a:xfrm>
            <a:off x="3648973" y="32102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9" name="Sottotitolo 2">
            <a:extLst>
              <a:ext uri="{FF2B5EF4-FFF2-40B4-BE49-F238E27FC236}">
                <a16:creationId xmlns:a16="http://schemas.microsoft.com/office/drawing/2014/main" id="{E0734D48-6600-5EF4-A1E7-62D5683A5522}"/>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Adriano Amorosini</a:t>
            </a:r>
          </a:p>
        </p:txBody>
      </p:sp>
      <p:sp>
        <p:nvSpPr>
          <p:cNvPr id="10" name="Sottotitolo 2">
            <a:extLst>
              <a:ext uri="{FF2B5EF4-FFF2-40B4-BE49-F238E27FC236}">
                <a16:creationId xmlns:a16="http://schemas.microsoft.com/office/drawing/2014/main" id="{B15E93A3-CCD1-A282-F715-94218BE5720E}"/>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3/13</a:t>
            </a:r>
          </a:p>
        </p:txBody>
      </p:sp>
      <p:pic>
        <p:nvPicPr>
          <p:cNvPr id="12" name="Immagine 11">
            <a:extLst>
              <a:ext uri="{FF2B5EF4-FFF2-40B4-BE49-F238E27FC236}">
                <a16:creationId xmlns:a16="http://schemas.microsoft.com/office/drawing/2014/main" id="{1868C8B6-8ADD-037A-B7C7-DDD33A404933}"/>
              </a:ext>
            </a:extLst>
          </p:cNvPr>
          <p:cNvPicPr>
            <a:picLocks noChangeAspect="1"/>
          </p:cNvPicPr>
          <p:nvPr/>
        </p:nvPicPr>
        <p:blipFill>
          <a:blip r:embed="rId2"/>
          <a:stretch>
            <a:fillRect/>
          </a:stretch>
        </p:blipFill>
        <p:spPr>
          <a:xfrm>
            <a:off x="234964" y="1869942"/>
            <a:ext cx="6001391" cy="4110980"/>
          </a:xfrm>
          <a:prstGeom prst="rect">
            <a:avLst/>
          </a:prstGeom>
        </p:spPr>
      </p:pic>
      <p:pic>
        <p:nvPicPr>
          <p:cNvPr id="5" name="Immagine 4">
            <a:extLst>
              <a:ext uri="{FF2B5EF4-FFF2-40B4-BE49-F238E27FC236}">
                <a16:creationId xmlns:a16="http://schemas.microsoft.com/office/drawing/2014/main" id="{E5E6C237-EE74-7FBD-286E-B7A7C8729E00}"/>
              </a:ext>
            </a:extLst>
          </p:cNvPr>
          <p:cNvPicPr>
            <a:picLocks noChangeAspect="1"/>
          </p:cNvPicPr>
          <p:nvPr/>
        </p:nvPicPr>
        <p:blipFill>
          <a:blip r:embed="rId3"/>
          <a:stretch>
            <a:fillRect/>
          </a:stretch>
        </p:blipFill>
        <p:spPr>
          <a:xfrm>
            <a:off x="9077274" y="85293"/>
            <a:ext cx="2323137" cy="746322"/>
          </a:xfrm>
          <a:prstGeom prst="rect">
            <a:avLst/>
          </a:prstGeom>
        </p:spPr>
      </p:pic>
    </p:spTree>
    <p:extLst>
      <p:ext uri="{BB962C8B-B14F-4D97-AF65-F5344CB8AC3E}">
        <p14:creationId xmlns:p14="http://schemas.microsoft.com/office/powerpoint/2010/main" val="3858020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2">
            <a:extLst>
              <a:ext uri="{FF2B5EF4-FFF2-40B4-BE49-F238E27FC236}">
                <a16:creationId xmlns:a16="http://schemas.microsoft.com/office/drawing/2014/main" id="{41BA14C9-B967-D8F8-B674-8E974942DC10}"/>
              </a:ext>
            </a:extLst>
          </p:cNvPr>
          <p:cNvSpPr txBox="1">
            <a:spLocks/>
          </p:cNvSpPr>
          <p:nvPr/>
        </p:nvSpPr>
        <p:spPr>
          <a:xfrm>
            <a:off x="6271309" y="1675310"/>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Il lavoro di tesi è articolato in tre parti principali.</a:t>
            </a:r>
          </a:p>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Inizialmente vengono presentati l'ambiente di sviluppo </a:t>
            </a:r>
            <a:r>
              <a:rPr lang="it-IT" sz="1800" i="1" dirty="0" err="1">
                <a:solidFill>
                  <a:srgbClr val="193C6A"/>
                </a:solidFill>
                <a:latin typeface="Times New Roman" panose="02020603050405020304" pitchFamily="18" charset="0"/>
                <a:cs typeface="Times New Roman" panose="02020603050405020304" pitchFamily="18" charset="0"/>
              </a:rPr>
              <a:t>Quartus</a:t>
            </a:r>
            <a:r>
              <a:rPr lang="it-IT" sz="1800" dirty="0">
                <a:solidFill>
                  <a:srgbClr val="193C6A"/>
                </a:solidFill>
                <a:latin typeface="Times New Roman" panose="02020603050405020304" pitchFamily="18" charset="0"/>
                <a:cs typeface="Times New Roman" panose="02020603050405020304" pitchFamily="18" charset="0"/>
              </a:rPr>
              <a:t> e il linguaggio </a:t>
            </a:r>
            <a:r>
              <a:rPr lang="it-IT" sz="1800" i="1" dirty="0">
                <a:solidFill>
                  <a:srgbClr val="193C6A"/>
                </a:solidFill>
                <a:latin typeface="Times New Roman" panose="02020603050405020304" pitchFamily="18" charset="0"/>
                <a:cs typeface="Times New Roman" panose="02020603050405020304" pitchFamily="18" charset="0"/>
              </a:rPr>
              <a:t>VHDL</a:t>
            </a:r>
            <a:r>
              <a:rPr lang="it-IT" sz="1800" dirty="0">
                <a:solidFill>
                  <a:srgbClr val="193C6A"/>
                </a:solidFill>
                <a:latin typeface="Times New Roman" panose="02020603050405020304" pitchFamily="18" charset="0"/>
                <a:cs typeface="Times New Roman" panose="02020603050405020304" pitchFamily="18" charset="0"/>
              </a:rPr>
              <a:t>, illustrandone le funzionalità e gli elementi fondamentali per la progettazione hardware.</a:t>
            </a:r>
          </a:p>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Successivamente viene descritta la progettazione e l'implementazione di un </a:t>
            </a:r>
            <a:r>
              <a:rPr lang="it-IT" sz="1800" i="1" dirty="0">
                <a:solidFill>
                  <a:srgbClr val="193C6A"/>
                </a:solidFill>
                <a:latin typeface="Times New Roman" panose="02020603050405020304" pitchFamily="18" charset="0"/>
                <a:cs typeface="Times New Roman" panose="02020603050405020304" pitchFamily="18" charset="0"/>
              </a:rPr>
              <a:t>soft-core</a:t>
            </a:r>
            <a:r>
              <a:rPr lang="it-IT" sz="1800" dirty="0">
                <a:solidFill>
                  <a:srgbClr val="193C6A"/>
                </a:solidFill>
                <a:latin typeface="Times New Roman" panose="02020603050405020304" pitchFamily="18" charset="0"/>
                <a:cs typeface="Times New Roman" panose="02020603050405020304" pitchFamily="18" charset="0"/>
              </a:rPr>
              <a:t> RV32I </a:t>
            </a:r>
            <a:r>
              <a:rPr lang="it-IT" sz="1800" i="1" dirty="0" err="1">
                <a:solidFill>
                  <a:srgbClr val="193C6A"/>
                </a:solidFill>
                <a:latin typeface="Times New Roman" panose="02020603050405020304" pitchFamily="18" charset="0"/>
                <a:cs typeface="Times New Roman" panose="02020603050405020304" pitchFamily="18" charset="0"/>
              </a:rPr>
              <a:t>pipelined</a:t>
            </a:r>
            <a:r>
              <a:rPr lang="it-IT" sz="1800" dirty="0">
                <a:solidFill>
                  <a:srgbClr val="193C6A"/>
                </a:solidFill>
                <a:latin typeface="Times New Roman" panose="02020603050405020304" pitchFamily="18" charset="0"/>
                <a:cs typeface="Times New Roman" panose="02020603050405020304" pitchFamily="18" charset="0"/>
              </a:rPr>
              <a:t> a cinque stadi, con particolare attenzione all'architettura del processore, alla gestione degli hazard e alla sua integrazione su FPGA.</a:t>
            </a:r>
          </a:p>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Infine, vengono riportati i risultati della verifica funzionale e le prestazioni rilevate, confrontando il processore sviluppato con un'implementazione equivalente basata sul </a:t>
            </a:r>
            <a:r>
              <a:rPr lang="it-IT" sz="1800" i="1" dirty="0">
                <a:solidFill>
                  <a:srgbClr val="193C6A"/>
                </a:solidFill>
                <a:latin typeface="Times New Roman" panose="02020603050405020304" pitchFamily="18" charset="0"/>
                <a:cs typeface="Times New Roman" panose="02020603050405020304" pitchFamily="18" charset="0"/>
              </a:rPr>
              <a:t>core </a:t>
            </a:r>
            <a:r>
              <a:rPr lang="it-IT" sz="1800" i="1" dirty="0" err="1">
                <a:solidFill>
                  <a:srgbClr val="193C6A"/>
                </a:solidFill>
                <a:latin typeface="Times New Roman" panose="02020603050405020304" pitchFamily="18" charset="0"/>
                <a:cs typeface="Times New Roman" panose="02020603050405020304" pitchFamily="18" charset="0"/>
              </a:rPr>
              <a:t>Nios</a:t>
            </a:r>
            <a:r>
              <a:rPr lang="it-IT" sz="1800" i="1" dirty="0">
                <a:solidFill>
                  <a:srgbClr val="193C6A"/>
                </a:solidFill>
                <a:latin typeface="Times New Roman" panose="02020603050405020304" pitchFamily="18" charset="0"/>
                <a:cs typeface="Times New Roman" panose="02020603050405020304" pitchFamily="18" charset="0"/>
              </a:rPr>
              <a:t> V</a:t>
            </a:r>
            <a:r>
              <a:rPr lang="it-IT" sz="1800" dirty="0">
                <a:solidFill>
                  <a:srgbClr val="193C6A"/>
                </a:solidFill>
                <a:latin typeface="Times New Roman" panose="02020603050405020304" pitchFamily="18" charset="0"/>
                <a:cs typeface="Times New Roman" panose="02020603050405020304" pitchFamily="18" charset="0"/>
              </a:rPr>
              <a:t>.</a:t>
            </a:r>
          </a:p>
        </p:txBody>
      </p:sp>
      <p:sp>
        <p:nvSpPr>
          <p:cNvPr id="3" name="Sottotitolo 2">
            <a:extLst>
              <a:ext uri="{FF2B5EF4-FFF2-40B4-BE49-F238E27FC236}">
                <a16:creationId xmlns:a16="http://schemas.microsoft.com/office/drawing/2014/main" id="{B66B1C9C-FDFC-3DAB-24DD-ECA071359C52}"/>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A7270E04-F0DB-6B58-E668-2F8091DEA89F}"/>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ACCC9935-517C-CD5E-708D-CE78F8E5FFBD}"/>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0DA8A5D0-3425-1325-B616-9FAF30FCE87D}"/>
              </a:ext>
            </a:extLst>
          </p:cNvPr>
          <p:cNvSpPr txBox="1"/>
          <p:nvPr/>
        </p:nvSpPr>
        <p:spPr>
          <a:xfrm>
            <a:off x="3695625" y="32102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9" name="Sottotitolo 2">
            <a:extLst>
              <a:ext uri="{FF2B5EF4-FFF2-40B4-BE49-F238E27FC236}">
                <a16:creationId xmlns:a16="http://schemas.microsoft.com/office/drawing/2014/main" id="{9D8697EF-78BA-2728-4DE4-9EFA2A1326FC}"/>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Adriano Amorosini</a:t>
            </a:r>
          </a:p>
        </p:txBody>
      </p:sp>
      <p:sp>
        <p:nvSpPr>
          <p:cNvPr id="10" name="Sottotitolo 2">
            <a:extLst>
              <a:ext uri="{FF2B5EF4-FFF2-40B4-BE49-F238E27FC236}">
                <a16:creationId xmlns:a16="http://schemas.microsoft.com/office/drawing/2014/main" id="{8656CBA7-129D-2079-6481-37CC576D62CB}"/>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4/13</a:t>
            </a:r>
          </a:p>
        </p:txBody>
      </p:sp>
      <p:pic>
        <p:nvPicPr>
          <p:cNvPr id="12" name="Immagine 11">
            <a:extLst>
              <a:ext uri="{FF2B5EF4-FFF2-40B4-BE49-F238E27FC236}">
                <a16:creationId xmlns:a16="http://schemas.microsoft.com/office/drawing/2014/main" id="{D63428B2-D02B-7073-07B1-1A6F783A3362}"/>
              </a:ext>
            </a:extLst>
          </p:cNvPr>
          <p:cNvPicPr>
            <a:picLocks noChangeAspect="1"/>
          </p:cNvPicPr>
          <p:nvPr/>
        </p:nvPicPr>
        <p:blipFill>
          <a:blip r:embed="rId2"/>
          <a:stretch>
            <a:fillRect/>
          </a:stretch>
        </p:blipFill>
        <p:spPr>
          <a:xfrm>
            <a:off x="429303" y="1675310"/>
            <a:ext cx="5386780" cy="4177748"/>
          </a:xfrm>
          <a:prstGeom prst="rect">
            <a:avLst/>
          </a:prstGeom>
        </p:spPr>
      </p:pic>
      <p:pic>
        <p:nvPicPr>
          <p:cNvPr id="11" name="Immagine 10">
            <a:extLst>
              <a:ext uri="{FF2B5EF4-FFF2-40B4-BE49-F238E27FC236}">
                <a16:creationId xmlns:a16="http://schemas.microsoft.com/office/drawing/2014/main" id="{62910B0B-F033-ED27-E590-8D5757AC3B05}"/>
              </a:ext>
            </a:extLst>
          </p:cNvPr>
          <p:cNvPicPr>
            <a:picLocks noChangeAspect="1"/>
          </p:cNvPicPr>
          <p:nvPr/>
        </p:nvPicPr>
        <p:blipFill>
          <a:blip r:embed="rId3"/>
          <a:stretch>
            <a:fillRect/>
          </a:stretch>
        </p:blipFill>
        <p:spPr>
          <a:xfrm>
            <a:off x="9077274" y="85293"/>
            <a:ext cx="2323137" cy="746322"/>
          </a:xfrm>
          <a:prstGeom prst="rect">
            <a:avLst/>
          </a:prstGeom>
        </p:spPr>
      </p:pic>
    </p:spTree>
    <p:extLst>
      <p:ext uri="{BB962C8B-B14F-4D97-AF65-F5344CB8AC3E}">
        <p14:creationId xmlns:p14="http://schemas.microsoft.com/office/powerpoint/2010/main" val="1392070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7C77B-4A15-5CB7-BDB1-BAE9D69D61E7}"/>
            </a:ext>
          </a:extLst>
        </p:cNvPr>
        <p:cNvGrpSpPr/>
        <p:nvPr/>
      </p:nvGrpSpPr>
      <p:grpSpPr>
        <a:xfrm>
          <a:off x="0" y="0"/>
          <a:ext cx="0" cy="0"/>
          <a:chOff x="0" y="0"/>
          <a:chExt cx="0" cy="0"/>
        </a:xfrm>
      </p:grpSpPr>
      <p:sp>
        <p:nvSpPr>
          <p:cNvPr id="2" name="Sottotitolo 2">
            <a:extLst>
              <a:ext uri="{FF2B5EF4-FFF2-40B4-BE49-F238E27FC236}">
                <a16:creationId xmlns:a16="http://schemas.microsoft.com/office/drawing/2014/main" id="{D8404156-0D2D-D6FA-9695-F158CDE85529}"/>
              </a:ext>
            </a:extLst>
          </p:cNvPr>
          <p:cNvSpPr txBox="1">
            <a:spLocks/>
          </p:cNvSpPr>
          <p:nvPr/>
        </p:nvSpPr>
        <p:spPr>
          <a:xfrm>
            <a:off x="6271309" y="1439976"/>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i="1" dirty="0" err="1">
                <a:solidFill>
                  <a:srgbClr val="193C6A"/>
                </a:solidFill>
                <a:latin typeface="Times New Roman" panose="02020603050405020304" pitchFamily="18" charset="0"/>
                <a:cs typeface="Times New Roman" panose="02020603050405020304" pitchFamily="18" charset="0"/>
              </a:rPr>
              <a:t>Quartus</a:t>
            </a:r>
            <a:r>
              <a:rPr lang="it-IT" sz="1800" i="1" dirty="0">
                <a:solidFill>
                  <a:srgbClr val="193C6A"/>
                </a:solidFill>
                <a:latin typeface="Times New Roman" panose="02020603050405020304" pitchFamily="18" charset="0"/>
                <a:cs typeface="Times New Roman" panose="02020603050405020304" pitchFamily="18" charset="0"/>
              </a:rPr>
              <a:t> </a:t>
            </a:r>
            <a:r>
              <a:rPr lang="it-IT" sz="1800" dirty="0">
                <a:solidFill>
                  <a:srgbClr val="193C6A"/>
                </a:solidFill>
                <a:latin typeface="Times New Roman" panose="02020603050405020304" pitchFamily="18" charset="0"/>
                <a:cs typeface="Times New Roman" panose="02020603050405020304" pitchFamily="18" charset="0"/>
              </a:rPr>
              <a:t>è l'ambiente di sviluppo integrato di Intel per la progettazione su FPGA. Fornisce tutti gli strumenti necessari per descrivere il progetto in un HDL, compilarlo, simularne il comportamento, analizzarne la struttura logica e le prestazioni temporali, programmare il dispositivo ed eseguire attività di debug e analisi dei consumi. Grazie a questi strumenti è possibile seguire l'intero flusso di sviluppo, dalla progettazione iniziale fino alla verifica del funzionamento sull'hardware.</a:t>
            </a:r>
          </a:p>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Il </a:t>
            </a:r>
            <a:r>
              <a:rPr lang="it-IT" sz="1800" i="1" dirty="0">
                <a:solidFill>
                  <a:srgbClr val="193C6A"/>
                </a:solidFill>
                <a:latin typeface="Times New Roman" panose="02020603050405020304" pitchFamily="18" charset="0"/>
                <a:cs typeface="Times New Roman" panose="02020603050405020304" pitchFamily="18" charset="0"/>
              </a:rPr>
              <a:t>VHDL</a:t>
            </a:r>
            <a:r>
              <a:rPr lang="it-IT" sz="1800" dirty="0">
                <a:solidFill>
                  <a:srgbClr val="193C6A"/>
                </a:solidFill>
                <a:latin typeface="Times New Roman" panose="02020603050405020304" pitchFamily="18" charset="0"/>
                <a:cs typeface="Times New Roman" panose="02020603050405020304" pitchFamily="18" charset="0"/>
              </a:rPr>
              <a:t> è un linguaggio per la descrizione dell’hardware, ovvero permette di descrivere una rete logica ed i suoi elementi. A differenza dei linguaggi di programmazione, gli HDL non vengono usati per scrivere programmi eseguibili, ma permettono la simulazione del circuito digitale descritto dalle specifiche del linguaggio.</a:t>
            </a:r>
          </a:p>
        </p:txBody>
      </p:sp>
      <p:sp>
        <p:nvSpPr>
          <p:cNvPr id="3" name="Sottotitolo 2">
            <a:extLst>
              <a:ext uri="{FF2B5EF4-FFF2-40B4-BE49-F238E27FC236}">
                <a16:creationId xmlns:a16="http://schemas.microsoft.com/office/drawing/2014/main" id="{ABD56CE5-002B-51CE-F2FD-CAE56E7BEE3D}"/>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AF70196B-F1FD-82AC-9517-4C7EE5C45691}"/>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B818C9F2-04AA-D811-8E48-8F15DBB55A60}"/>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68564BAE-80F2-CA0D-FF3B-17C018EC7E05}"/>
              </a:ext>
            </a:extLst>
          </p:cNvPr>
          <p:cNvSpPr txBox="1"/>
          <p:nvPr/>
        </p:nvSpPr>
        <p:spPr>
          <a:xfrm>
            <a:off x="3695625" y="32102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9" name="Sottotitolo 2">
            <a:extLst>
              <a:ext uri="{FF2B5EF4-FFF2-40B4-BE49-F238E27FC236}">
                <a16:creationId xmlns:a16="http://schemas.microsoft.com/office/drawing/2014/main" id="{3020783F-2BE8-5652-A051-6EE6C1593CFB}"/>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Adriano Amorosini</a:t>
            </a:r>
          </a:p>
        </p:txBody>
      </p:sp>
      <p:sp>
        <p:nvSpPr>
          <p:cNvPr id="10" name="Sottotitolo 2">
            <a:extLst>
              <a:ext uri="{FF2B5EF4-FFF2-40B4-BE49-F238E27FC236}">
                <a16:creationId xmlns:a16="http://schemas.microsoft.com/office/drawing/2014/main" id="{D4579483-FEEB-993C-ECC0-A5E300FD471C}"/>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5/13</a:t>
            </a:r>
          </a:p>
        </p:txBody>
      </p:sp>
      <p:pic>
        <p:nvPicPr>
          <p:cNvPr id="16" name="Immagine 15">
            <a:extLst>
              <a:ext uri="{FF2B5EF4-FFF2-40B4-BE49-F238E27FC236}">
                <a16:creationId xmlns:a16="http://schemas.microsoft.com/office/drawing/2014/main" id="{1D3E7DD2-07B0-6E3B-30C0-34F4453C2343}"/>
              </a:ext>
            </a:extLst>
          </p:cNvPr>
          <p:cNvPicPr>
            <a:picLocks noChangeAspect="1"/>
          </p:cNvPicPr>
          <p:nvPr/>
        </p:nvPicPr>
        <p:blipFill>
          <a:blip r:embed="rId2"/>
          <a:stretch>
            <a:fillRect/>
          </a:stretch>
        </p:blipFill>
        <p:spPr>
          <a:xfrm>
            <a:off x="248399" y="2130480"/>
            <a:ext cx="5847602" cy="3467107"/>
          </a:xfrm>
          <a:prstGeom prst="rect">
            <a:avLst/>
          </a:prstGeom>
        </p:spPr>
      </p:pic>
      <p:pic>
        <p:nvPicPr>
          <p:cNvPr id="11" name="Immagine 10">
            <a:extLst>
              <a:ext uri="{FF2B5EF4-FFF2-40B4-BE49-F238E27FC236}">
                <a16:creationId xmlns:a16="http://schemas.microsoft.com/office/drawing/2014/main" id="{7F65986A-A9E4-89FB-581C-511E59DECE4F}"/>
              </a:ext>
            </a:extLst>
          </p:cNvPr>
          <p:cNvPicPr>
            <a:picLocks noChangeAspect="1"/>
          </p:cNvPicPr>
          <p:nvPr/>
        </p:nvPicPr>
        <p:blipFill>
          <a:blip r:embed="rId3"/>
          <a:stretch>
            <a:fillRect/>
          </a:stretch>
        </p:blipFill>
        <p:spPr>
          <a:xfrm>
            <a:off x="9077274" y="85293"/>
            <a:ext cx="2323137" cy="746322"/>
          </a:xfrm>
          <a:prstGeom prst="rect">
            <a:avLst/>
          </a:prstGeom>
        </p:spPr>
      </p:pic>
      <p:sp>
        <p:nvSpPr>
          <p:cNvPr id="13" name="Rettangolo 12">
            <a:extLst>
              <a:ext uri="{FF2B5EF4-FFF2-40B4-BE49-F238E27FC236}">
                <a16:creationId xmlns:a16="http://schemas.microsoft.com/office/drawing/2014/main" id="{98291B6C-86BB-C978-2423-7F8995F2D877}"/>
              </a:ext>
            </a:extLst>
          </p:cNvPr>
          <p:cNvSpPr/>
          <p:nvPr/>
        </p:nvSpPr>
        <p:spPr>
          <a:xfrm>
            <a:off x="4805265" y="1026367"/>
            <a:ext cx="2687217" cy="3545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sp>
        <p:nvSpPr>
          <p:cNvPr id="18" name="CasellaDiTesto 17">
            <a:extLst>
              <a:ext uri="{FF2B5EF4-FFF2-40B4-BE49-F238E27FC236}">
                <a16:creationId xmlns:a16="http://schemas.microsoft.com/office/drawing/2014/main" id="{4BED4E07-0152-9309-74F2-FB1032EA2E84}"/>
              </a:ext>
            </a:extLst>
          </p:cNvPr>
          <p:cNvSpPr txBox="1"/>
          <p:nvPr/>
        </p:nvSpPr>
        <p:spPr>
          <a:xfrm>
            <a:off x="3478968" y="951129"/>
            <a:ext cx="6106884" cy="430887"/>
          </a:xfrm>
          <a:prstGeom prst="rect">
            <a:avLst/>
          </a:prstGeom>
          <a:noFill/>
        </p:spPr>
        <p:txBody>
          <a:bodyPr wrap="square">
            <a:spAutoFit/>
          </a:bodyPr>
          <a:lstStyle/>
          <a:p>
            <a:pPr algn="ctr"/>
            <a:r>
              <a:rPr lang="it-IT" sz="2200" b="1" i="1" dirty="0" err="1">
                <a:solidFill>
                  <a:srgbClr val="193C6A"/>
                </a:solidFill>
                <a:latin typeface="Times New Roman" panose="02020603050405020304" pitchFamily="18" charset="0"/>
                <a:cs typeface="Times New Roman" panose="02020603050405020304" pitchFamily="18" charset="0"/>
              </a:rPr>
              <a:t>Quartus</a:t>
            </a:r>
            <a:r>
              <a:rPr lang="it-IT" sz="2200" b="1" i="1" dirty="0">
                <a:solidFill>
                  <a:srgbClr val="193C6A"/>
                </a:solidFill>
                <a:latin typeface="Times New Roman" panose="02020603050405020304" pitchFamily="18" charset="0"/>
                <a:cs typeface="Times New Roman" panose="02020603050405020304" pitchFamily="18" charset="0"/>
              </a:rPr>
              <a:t> IDE </a:t>
            </a:r>
            <a:r>
              <a:rPr lang="it-IT" sz="2200" b="1" dirty="0">
                <a:solidFill>
                  <a:srgbClr val="193C6A"/>
                </a:solidFill>
                <a:latin typeface="Times New Roman" panose="02020603050405020304" pitchFamily="18" charset="0"/>
                <a:cs typeface="Times New Roman" panose="02020603050405020304" pitchFamily="18" charset="0"/>
              </a:rPr>
              <a:t>e linguaggio VHDL</a:t>
            </a:r>
            <a:endParaRPr lang="it-IT" sz="2200" b="1" i="1" dirty="0">
              <a:solidFill>
                <a:srgbClr val="193C6A"/>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4400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0EE1F-5B42-B26F-5CD7-DD7580BD2517}"/>
            </a:ext>
          </a:extLst>
        </p:cNvPr>
        <p:cNvGrpSpPr/>
        <p:nvPr/>
      </p:nvGrpSpPr>
      <p:grpSpPr>
        <a:xfrm>
          <a:off x="0" y="0"/>
          <a:ext cx="0" cy="0"/>
          <a:chOff x="0" y="0"/>
          <a:chExt cx="0" cy="0"/>
        </a:xfrm>
      </p:grpSpPr>
      <p:sp>
        <p:nvSpPr>
          <p:cNvPr id="2" name="Sottotitolo 2">
            <a:extLst>
              <a:ext uri="{FF2B5EF4-FFF2-40B4-BE49-F238E27FC236}">
                <a16:creationId xmlns:a16="http://schemas.microsoft.com/office/drawing/2014/main" id="{6B072F04-1A9C-0A36-12CB-D7FEB40E0192}"/>
              </a:ext>
            </a:extLst>
          </p:cNvPr>
          <p:cNvSpPr txBox="1">
            <a:spLocks/>
          </p:cNvSpPr>
          <p:nvPr/>
        </p:nvSpPr>
        <p:spPr>
          <a:xfrm>
            <a:off x="6271309" y="1675310"/>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Il processore realizzato nel lavoro di tesi è di tipo </a:t>
            </a:r>
            <a:r>
              <a:rPr lang="it-IT" sz="1800" i="1" dirty="0" err="1">
                <a:solidFill>
                  <a:srgbClr val="193C6A"/>
                </a:solidFill>
                <a:latin typeface="Times New Roman" panose="02020603050405020304" pitchFamily="18" charset="0"/>
                <a:cs typeface="Times New Roman" panose="02020603050405020304" pitchFamily="18" charset="0"/>
              </a:rPr>
              <a:t>pipelined</a:t>
            </a:r>
            <a:r>
              <a:rPr lang="it-IT" sz="1800" dirty="0">
                <a:solidFill>
                  <a:srgbClr val="193C6A"/>
                </a:solidFill>
                <a:latin typeface="Times New Roman" panose="02020603050405020304" pitchFamily="18" charset="0"/>
                <a:cs typeface="Times New Roman" panose="02020603050405020304" pitchFamily="18" charset="0"/>
              </a:rPr>
              <a:t> a 5 stadi, ovvero suddivide l’esecuzione di ogni istruzione in suddetto numero di fasi in modo da poterne supportare un’esecuzione concorrente, aumentando il </a:t>
            </a:r>
            <a:r>
              <a:rPr lang="it-IT" sz="1800" i="1" dirty="0">
                <a:solidFill>
                  <a:srgbClr val="193C6A"/>
                </a:solidFill>
                <a:latin typeface="Times New Roman" panose="02020603050405020304" pitchFamily="18" charset="0"/>
                <a:cs typeface="Times New Roman" panose="02020603050405020304" pitchFamily="18" charset="0"/>
              </a:rPr>
              <a:t>throughput </a:t>
            </a:r>
            <a:r>
              <a:rPr lang="it-IT" sz="1800" dirty="0">
                <a:solidFill>
                  <a:srgbClr val="193C6A"/>
                </a:solidFill>
                <a:latin typeface="Times New Roman" panose="02020603050405020304" pitchFamily="18" charset="0"/>
                <a:cs typeface="Times New Roman" panose="02020603050405020304" pitchFamily="18" charset="0"/>
              </a:rPr>
              <a:t>e la frequenza massima di lavoro.</a:t>
            </a:r>
          </a:p>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In generale, tale architettura presenta tre blocchi principali:</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Il </a:t>
            </a:r>
            <a:r>
              <a:rPr lang="it-IT" sz="1800" i="1" dirty="0" err="1">
                <a:solidFill>
                  <a:srgbClr val="193C6A"/>
                </a:solidFill>
                <a:latin typeface="Times New Roman" panose="02020603050405020304" pitchFamily="18" charset="0"/>
                <a:cs typeface="Times New Roman" panose="02020603050405020304" pitchFamily="18" charset="0"/>
              </a:rPr>
              <a:t>Datapath</a:t>
            </a:r>
            <a:r>
              <a:rPr lang="it-IT" sz="1800" i="1" dirty="0">
                <a:solidFill>
                  <a:srgbClr val="193C6A"/>
                </a:solidFill>
                <a:latin typeface="Times New Roman" panose="02020603050405020304" pitchFamily="18" charset="0"/>
                <a:cs typeface="Times New Roman" panose="02020603050405020304" pitchFamily="18" charset="0"/>
              </a:rPr>
              <a:t>, </a:t>
            </a:r>
            <a:r>
              <a:rPr lang="it-IT" sz="1800" dirty="0">
                <a:solidFill>
                  <a:srgbClr val="193C6A"/>
                </a:solidFill>
                <a:latin typeface="Times New Roman" panose="02020603050405020304" pitchFamily="18" charset="0"/>
                <a:cs typeface="Times New Roman" panose="02020603050405020304" pitchFamily="18" charset="0"/>
              </a:rPr>
              <a:t>ovvero il percorso dei dati in cui vengono eseguite le istruzioni;</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La </a:t>
            </a:r>
            <a:r>
              <a:rPr lang="it-IT" sz="1800" i="1" dirty="0">
                <a:solidFill>
                  <a:srgbClr val="193C6A"/>
                </a:solidFill>
                <a:latin typeface="Times New Roman" panose="02020603050405020304" pitchFamily="18" charset="0"/>
                <a:cs typeface="Times New Roman" panose="02020603050405020304" pitchFamily="18" charset="0"/>
              </a:rPr>
              <a:t>Control Unit</a:t>
            </a:r>
            <a:r>
              <a:rPr lang="it-IT" sz="1800" dirty="0">
                <a:solidFill>
                  <a:srgbClr val="193C6A"/>
                </a:solidFill>
                <a:latin typeface="Times New Roman" panose="02020603050405020304" pitchFamily="18" charset="0"/>
                <a:cs typeface="Times New Roman" panose="02020603050405020304" pitchFamily="18" charset="0"/>
              </a:rPr>
              <a:t>, che genera i segnali di controllo del flusso;</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La </a:t>
            </a:r>
            <a:r>
              <a:rPr lang="it-IT" sz="1800" i="1" dirty="0">
                <a:solidFill>
                  <a:srgbClr val="193C6A"/>
                </a:solidFill>
                <a:latin typeface="Times New Roman" panose="02020603050405020304" pitchFamily="18" charset="0"/>
                <a:cs typeface="Times New Roman" panose="02020603050405020304" pitchFamily="18" charset="0"/>
              </a:rPr>
              <a:t>Hazard Unit, </a:t>
            </a:r>
            <a:r>
              <a:rPr lang="it-IT" sz="1800" dirty="0">
                <a:solidFill>
                  <a:srgbClr val="193C6A"/>
                </a:solidFill>
                <a:latin typeface="Times New Roman" panose="02020603050405020304" pitchFamily="18" charset="0"/>
                <a:cs typeface="Times New Roman" panose="02020603050405020304" pitchFamily="18" charset="0"/>
              </a:rPr>
              <a:t>che si occupa di gestire gli azzardi generati dalla </a:t>
            </a:r>
            <a:r>
              <a:rPr lang="it-IT" sz="1800" i="1" dirty="0">
                <a:solidFill>
                  <a:srgbClr val="193C6A"/>
                </a:solidFill>
                <a:latin typeface="Times New Roman" panose="02020603050405020304" pitchFamily="18" charset="0"/>
                <a:cs typeface="Times New Roman" panose="02020603050405020304" pitchFamily="18" charset="0"/>
              </a:rPr>
              <a:t>pipeline</a:t>
            </a: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3" name="Sottotitolo 2">
            <a:extLst>
              <a:ext uri="{FF2B5EF4-FFF2-40B4-BE49-F238E27FC236}">
                <a16:creationId xmlns:a16="http://schemas.microsoft.com/office/drawing/2014/main" id="{478AAC14-FE5C-3252-D5C5-27506A25A688}"/>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BE5800F2-91CA-1B25-120B-D06939A50A66}"/>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CDB04A7A-B1A5-F003-D463-88A8DC1763AC}"/>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09BE57A1-7E1D-DBCF-1D4D-C41500A97420}"/>
              </a:ext>
            </a:extLst>
          </p:cNvPr>
          <p:cNvSpPr txBox="1"/>
          <p:nvPr/>
        </p:nvSpPr>
        <p:spPr>
          <a:xfrm>
            <a:off x="3704956" y="13145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p:txBody>
      </p:sp>
      <p:sp>
        <p:nvSpPr>
          <p:cNvPr id="9" name="Sottotitolo 2">
            <a:extLst>
              <a:ext uri="{FF2B5EF4-FFF2-40B4-BE49-F238E27FC236}">
                <a16:creationId xmlns:a16="http://schemas.microsoft.com/office/drawing/2014/main" id="{3C3DCCAE-3AAA-B2DA-2473-F892E2D246AB}"/>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Adriano Amorosini</a:t>
            </a:r>
          </a:p>
        </p:txBody>
      </p:sp>
      <p:sp>
        <p:nvSpPr>
          <p:cNvPr id="10" name="Sottotitolo 2">
            <a:extLst>
              <a:ext uri="{FF2B5EF4-FFF2-40B4-BE49-F238E27FC236}">
                <a16:creationId xmlns:a16="http://schemas.microsoft.com/office/drawing/2014/main" id="{F33F39ED-9F37-42E6-1A3C-11C92B73F77F}"/>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6/13</a:t>
            </a:r>
          </a:p>
        </p:txBody>
      </p:sp>
      <p:pic>
        <p:nvPicPr>
          <p:cNvPr id="11" name="Immagine 10">
            <a:extLst>
              <a:ext uri="{FF2B5EF4-FFF2-40B4-BE49-F238E27FC236}">
                <a16:creationId xmlns:a16="http://schemas.microsoft.com/office/drawing/2014/main" id="{F137B22A-912A-938F-F16B-21DF6B60C3FC}"/>
              </a:ext>
            </a:extLst>
          </p:cNvPr>
          <p:cNvPicPr>
            <a:picLocks noChangeAspect="1"/>
          </p:cNvPicPr>
          <p:nvPr/>
        </p:nvPicPr>
        <p:blipFill>
          <a:blip r:embed="rId2"/>
          <a:stretch>
            <a:fillRect/>
          </a:stretch>
        </p:blipFill>
        <p:spPr>
          <a:xfrm>
            <a:off x="184220" y="1875011"/>
            <a:ext cx="5911780" cy="3783098"/>
          </a:xfrm>
          <a:prstGeom prst="rect">
            <a:avLst/>
          </a:prstGeom>
        </p:spPr>
      </p:pic>
      <p:pic>
        <p:nvPicPr>
          <p:cNvPr id="12" name="Immagine 11">
            <a:extLst>
              <a:ext uri="{FF2B5EF4-FFF2-40B4-BE49-F238E27FC236}">
                <a16:creationId xmlns:a16="http://schemas.microsoft.com/office/drawing/2014/main" id="{1C76B4ED-0712-A0D6-3EB2-286A4310194E}"/>
              </a:ext>
            </a:extLst>
          </p:cNvPr>
          <p:cNvPicPr>
            <a:picLocks noChangeAspect="1"/>
          </p:cNvPicPr>
          <p:nvPr/>
        </p:nvPicPr>
        <p:blipFill>
          <a:blip r:embed="rId3"/>
          <a:stretch>
            <a:fillRect/>
          </a:stretch>
        </p:blipFill>
        <p:spPr>
          <a:xfrm>
            <a:off x="9077274" y="85293"/>
            <a:ext cx="2323137" cy="746322"/>
          </a:xfrm>
          <a:prstGeom prst="rect">
            <a:avLst/>
          </a:prstGeom>
        </p:spPr>
      </p:pic>
      <p:sp>
        <p:nvSpPr>
          <p:cNvPr id="14" name="Rettangolo 13">
            <a:extLst>
              <a:ext uri="{FF2B5EF4-FFF2-40B4-BE49-F238E27FC236}">
                <a16:creationId xmlns:a16="http://schemas.microsoft.com/office/drawing/2014/main" id="{D9CD10F3-758F-4796-3460-98A748677C24}"/>
              </a:ext>
            </a:extLst>
          </p:cNvPr>
          <p:cNvSpPr/>
          <p:nvPr/>
        </p:nvSpPr>
        <p:spPr>
          <a:xfrm>
            <a:off x="4805265" y="1026367"/>
            <a:ext cx="2687217" cy="3545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sp>
        <p:nvSpPr>
          <p:cNvPr id="16" name="CasellaDiTesto 15">
            <a:extLst>
              <a:ext uri="{FF2B5EF4-FFF2-40B4-BE49-F238E27FC236}">
                <a16:creationId xmlns:a16="http://schemas.microsoft.com/office/drawing/2014/main" id="{CA2C9FC3-F770-33DE-D2EA-7594926CF635}"/>
              </a:ext>
            </a:extLst>
          </p:cNvPr>
          <p:cNvSpPr txBox="1"/>
          <p:nvPr/>
        </p:nvSpPr>
        <p:spPr>
          <a:xfrm>
            <a:off x="2867251" y="1024958"/>
            <a:ext cx="6106884" cy="430887"/>
          </a:xfrm>
          <a:prstGeom prst="rect">
            <a:avLst/>
          </a:prstGeom>
          <a:noFill/>
        </p:spPr>
        <p:txBody>
          <a:bodyPr wrap="square">
            <a:spAutoFit/>
          </a:bodyPr>
          <a:lstStyle/>
          <a:p>
            <a:pPr algn="ctr"/>
            <a:r>
              <a:rPr lang="it-IT" sz="2200" b="1" dirty="0">
                <a:solidFill>
                  <a:srgbClr val="193C6A"/>
                </a:solidFill>
                <a:latin typeface="Times New Roman" panose="02020603050405020304" pitchFamily="18" charset="0"/>
                <a:cs typeface="Times New Roman" panose="02020603050405020304" pitchFamily="18" charset="0"/>
              </a:rPr>
              <a:t>Architettura del processore </a:t>
            </a:r>
            <a:r>
              <a:rPr lang="it-IT" sz="2200" b="1" i="1" dirty="0">
                <a:solidFill>
                  <a:srgbClr val="193C6A"/>
                </a:solidFill>
                <a:latin typeface="Times New Roman" panose="02020603050405020304" pitchFamily="18" charset="0"/>
                <a:cs typeface="Times New Roman" panose="02020603050405020304" pitchFamily="18" charset="0"/>
              </a:rPr>
              <a:t>custom</a:t>
            </a:r>
            <a:endParaRPr lang="it-IT" sz="2200" b="1" dirty="0">
              <a:solidFill>
                <a:srgbClr val="193C6A"/>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747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5431-B5A8-F2AC-218C-C5EECAB75C5A}"/>
            </a:ext>
          </a:extLst>
        </p:cNvPr>
        <p:cNvGrpSpPr/>
        <p:nvPr/>
      </p:nvGrpSpPr>
      <p:grpSpPr>
        <a:xfrm>
          <a:off x="0" y="0"/>
          <a:ext cx="0" cy="0"/>
          <a:chOff x="0" y="0"/>
          <a:chExt cx="0" cy="0"/>
        </a:xfrm>
      </p:grpSpPr>
      <p:sp>
        <p:nvSpPr>
          <p:cNvPr id="2" name="Sottotitolo 2">
            <a:extLst>
              <a:ext uri="{FF2B5EF4-FFF2-40B4-BE49-F238E27FC236}">
                <a16:creationId xmlns:a16="http://schemas.microsoft.com/office/drawing/2014/main" id="{531A4058-BB53-D610-9189-E1D306431EE1}"/>
              </a:ext>
            </a:extLst>
          </p:cNvPr>
          <p:cNvSpPr txBox="1">
            <a:spLocks/>
          </p:cNvSpPr>
          <p:nvPr/>
        </p:nvSpPr>
        <p:spPr>
          <a:xfrm>
            <a:off x="6271309" y="1675310"/>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Tale processore </a:t>
            </a:r>
            <a:r>
              <a:rPr lang="it-IT" sz="1800" i="1" dirty="0">
                <a:solidFill>
                  <a:srgbClr val="193C6A"/>
                </a:solidFill>
                <a:latin typeface="Times New Roman" panose="02020603050405020304" pitchFamily="18" charset="0"/>
                <a:cs typeface="Times New Roman" panose="02020603050405020304" pitchFamily="18" charset="0"/>
              </a:rPr>
              <a:t>custom </a:t>
            </a:r>
            <a:r>
              <a:rPr lang="it-IT" sz="1800" dirty="0">
                <a:solidFill>
                  <a:srgbClr val="193C6A"/>
                </a:solidFill>
                <a:latin typeface="Times New Roman" panose="02020603050405020304" pitchFamily="18" charset="0"/>
                <a:cs typeface="Times New Roman" panose="02020603050405020304" pitchFamily="18" charset="0"/>
              </a:rPr>
              <a:t>è stato poi confrontato con la soluzione proprietaria </a:t>
            </a:r>
            <a:r>
              <a:rPr lang="it-IT" sz="1800" i="1" dirty="0" err="1">
                <a:solidFill>
                  <a:srgbClr val="193C6A"/>
                </a:solidFill>
                <a:latin typeface="Times New Roman" panose="02020603050405020304" pitchFamily="18" charset="0"/>
                <a:cs typeface="Times New Roman" panose="02020603050405020304" pitchFamily="18" charset="0"/>
              </a:rPr>
              <a:t>Nios</a:t>
            </a:r>
            <a:r>
              <a:rPr lang="it-IT" sz="1800" i="1" dirty="0">
                <a:solidFill>
                  <a:srgbClr val="193C6A"/>
                </a:solidFill>
                <a:latin typeface="Times New Roman" panose="02020603050405020304" pitchFamily="18" charset="0"/>
                <a:cs typeface="Times New Roman" panose="02020603050405020304" pitchFamily="18" charset="0"/>
              </a:rPr>
              <a:t> V,</a:t>
            </a:r>
            <a:r>
              <a:rPr lang="it-IT" sz="1800" dirty="0">
                <a:solidFill>
                  <a:srgbClr val="193C6A"/>
                </a:solidFill>
                <a:latin typeface="Times New Roman" panose="02020603050405020304" pitchFamily="18" charset="0"/>
                <a:cs typeface="Times New Roman" panose="02020603050405020304" pitchFamily="18" charset="0"/>
              </a:rPr>
              <a:t> personalizzabile in modo limitato attraverso il </a:t>
            </a:r>
            <a:r>
              <a:rPr lang="it-IT" sz="1800" i="1" dirty="0">
                <a:solidFill>
                  <a:srgbClr val="193C6A"/>
                </a:solidFill>
                <a:latin typeface="Times New Roman" panose="02020603050405020304" pitchFamily="18" charset="0"/>
                <a:cs typeface="Times New Roman" panose="02020603050405020304" pitchFamily="18" charset="0"/>
              </a:rPr>
              <a:t>Platform Designer </a:t>
            </a:r>
            <a:r>
              <a:rPr lang="it-IT" sz="1800" dirty="0">
                <a:solidFill>
                  <a:srgbClr val="193C6A"/>
                </a:solidFill>
                <a:latin typeface="Times New Roman" panose="02020603050405020304" pitchFamily="18" charset="0"/>
                <a:cs typeface="Times New Roman" panose="02020603050405020304" pitchFamily="18" charset="0"/>
              </a:rPr>
              <a:t>e dal set di istruzioni e registri leggermente più ampio rispetto al caso precedente.</a:t>
            </a:r>
          </a:p>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Per entrambi i progetti, come implementazione su FPGA, si è scelto di integrare il processore in modo tale da mostrare (con abilitazione controllata da uno </a:t>
            </a:r>
            <a:r>
              <a:rPr lang="it-IT" sz="1800" i="1" dirty="0">
                <a:solidFill>
                  <a:srgbClr val="193C6A"/>
                </a:solidFill>
                <a:latin typeface="Times New Roman" panose="02020603050405020304" pitchFamily="18" charset="0"/>
                <a:cs typeface="Times New Roman" panose="02020603050405020304" pitchFamily="18" charset="0"/>
              </a:rPr>
              <a:t>slide switch</a:t>
            </a:r>
            <a:r>
              <a:rPr lang="it-IT" sz="1800" dirty="0">
                <a:solidFill>
                  <a:srgbClr val="193C6A"/>
                </a:solidFill>
                <a:latin typeface="Times New Roman" panose="02020603050405020304" pitchFamily="18" charset="0"/>
                <a:cs typeface="Times New Roman" panose="02020603050405020304" pitchFamily="18" charset="0"/>
              </a:rPr>
              <a:t>) una </a:t>
            </a:r>
            <a:r>
              <a:rPr lang="it-IT" sz="1800" i="1" dirty="0">
                <a:solidFill>
                  <a:srgbClr val="193C6A"/>
                </a:solidFill>
                <a:latin typeface="Times New Roman" panose="02020603050405020304" pitchFamily="18" charset="0"/>
                <a:cs typeface="Times New Roman" panose="02020603050405020304" pitchFamily="18" charset="0"/>
              </a:rPr>
              <a:t>word</a:t>
            </a:r>
            <a:r>
              <a:rPr lang="it-IT" sz="1800" dirty="0">
                <a:solidFill>
                  <a:srgbClr val="193C6A"/>
                </a:solidFill>
                <a:latin typeface="Times New Roman" panose="02020603050405020304" pitchFamily="18" charset="0"/>
                <a:cs typeface="Times New Roman" panose="02020603050405020304" pitchFamily="18" charset="0"/>
              </a:rPr>
              <a:t> della </a:t>
            </a:r>
            <a:r>
              <a:rPr lang="it-IT" sz="1800" i="1" dirty="0">
                <a:solidFill>
                  <a:srgbClr val="193C6A"/>
                </a:solidFill>
                <a:latin typeface="Times New Roman" panose="02020603050405020304" pitchFamily="18" charset="0"/>
                <a:cs typeface="Times New Roman" panose="02020603050405020304" pitchFamily="18" charset="0"/>
              </a:rPr>
              <a:t>data </a:t>
            </a:r>
            <a:r>
              <a:rPr lang="it-IT" sz="1800" i="1" dirty="0" err="1">
                <a:solidFill>
                  <a:srgbClr val="193C6A"/>
                </a:solidFill>
                <a:latin typeface="Times New Roman" panose="02020603050405020304" pitchFamily="18" charset="0"/>
                <a:cs typeface="Times New Roman" panose="02020603050405020304" pitchFamily="18" charset="0"/>
              </a:rPr>
              <a:t>memory</a:t>
            </a:r>
            <a:r>
              <a:rPr lang="it-IT" sz="1800" dirty="0">
                <a:solidFill>
                  <a:srgbClr val="193C6A"/>
                </a:solidFill>
                <a:latin typeface="Times New Roman" panose="02020603050405020304" pitchFamily="18" charset="0"/>
                <a:cs typeface="Times New Roman" panose="02020603050405020304" pitchFamily="18" charset="0"/>
              </a:rPr>
              <a:t> sul display a 7 segmenti. Nel primo, sarà possibile scegliere uno dei 5 programmi caricati attraverso l’utilizzo di un </a:t>
            </a:r>
            <a:r>
              <a:rPr lang="it-IT" sz="1800" i="1" dirty="0" err="1">
                <a:solidFill>
                  <a:srgbClr val="193C6A"/>
                </a:solidFill>
                <a:latin typeface="Times New Roman" panose="02020603050405020304" pitchFamily="18" charset="0"/>
                <a:cs typeface="Times New Roman" panose="02020603050405020304" pitchFamily="18" charset="0"/>
              </a:rPr>
              <a:t>push</a:t>
            </a:r>
            <a:r>
              <a:rPr lang="it-IT" sz="1800" i="1" dirty="0">
                <a:solidFill>
                  <a:srgbClr val="193C6A"/>
                </a:solidFill>
                <a:latin typeface="Times New Roman" panose="02020603050405020304" pitchFamily="18" charset="0"/>
                <a:cs typeface="Times New Roman" panose="02020603050405020304" pitchFamily="18" charset="0"/>
              </a:rPr>
              <a:t> </a:t>
            </a:r>
            <a:r>
              <a:rPr lang="it-IT" sz="1800" i="1" dirty="0" err="1">
                <a:solidFill>
                  <a:srgbClr val="193C6A"/>
                </a:solidFill>
                <a:latin typeface="Times New Roman" panose="02020603050405020304" pitchFamily="18" charset="0"/>
                <a:cs typeface="Times New Roman" panose="02020603050405020304" pitchFamily="18" charset="0"/>
              </a:rPr>
              <a:t>button</a:t>
            </a:r>
            <a:r>
              <a:rPr lang="it-IT" sz="1800" dirty="0">
                <a:solidFill>
                  <a:srgbClr val="193C6A"/>
                </a:solidFill>
                <a:latin typeface="Times New Roman" panose="02020603050405020304" pitchFamily="18" charset="0"/>
                <a:cs typeface="Times New Roman" panose="02020603050405020304" pitchFamily="18" charset="0"/>
              </a:rPr>
              <a:t> messo a disposizione dalla scheda. Nel secondo, si avrà un singolo programma caricato, compilato opportunamente seguendo il flusso di lavoro previsto dalla microarchitettura utilizzata. </a:t>
            </a:r>
          </a:p>
        </p:txBody>
      </p:sp>
      <p:sp>
        <p:nvSpPr>
          <p:cNvPr id="3" name="Sottotitolo 2">
            <a:extLst>
              <a:ext uri="{FF2B5EF4-FFF2-40B4-BE49-F238E27FC236}">
                <a16:creationId xmlns:a16="http://schemas.microsoft.com/office/drawing/2014/main" id="{8396AA28-8857-A828-C0DD-269AD042EC93}"/>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DE8DFCCE-6F63-DA12-B660-1870ABA4CFCF}"/>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E3F06DA7-173B-6246-8A58-D1928B858F38}"/>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D2FF8E49-ACD3-0E82-F29A-3F9C2E2B6924}"/>
              </a:ext>
            </a:extLst>
          </p:cNvPr>
          <p:cNvSpPr txBox="1"/>
          <p:nvPr/>
        </p:nvSpPr>
        <p:spPr>
          <a:xfrm>
            <a:off x="3695625" y="32102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9" name="Sottotitolo 2">
            <a:extLst>
              <a:ext uri="{FF2B5EF4-FFF2-40B4-BE49-F238E27FC236}">
                <a16:creationId xmlns:a16="http://schemas.microsoft.com/office/drawing/2014/main" id="{696B1B08-BC8A-5CFD-C247-099567FC258C}"/>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Adriano Amorosini</a:t>
            </a:r>
          </a:p>
        </p:txBody>
      </p:sp>
      <p:sp>
        <p:nvSpPr>
          <p:cNvPr id="10" name="Sottotitolo 2">
            <a:extLst>
              <a:ext uri="{FF2B5EF4-FFF2-40B4-BE49-F238E27FC236}">
                <a16:creationId xmlns:a16="http://schemas.microsoft.com/office/drawing/2014/main" id="{78DF5AE1-1372-7D16-DF5A-CE91FAC24BB2}"/>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7/13</a:t>
            </a:r>
          </a:p>
        </p:txBody>
      </p:sp>
      <p:pic>
        <p:nvPicPr>
          <p:cNvPr id="12" name="Immagine 11">
            <a:extLst>
              <a:ext uri="{FF2B5EF4-FFF2-40B4-BE49-F238E27FC236}">
                <a16:creationId xmlns:a16="http://schemas.microsoft.com/office/drawing/2014/main" id="{D32A0106-1885-5796-425C-1CF74259A9E5}"/>
              </a:ext>
            </a:extLst>
          </p:cNvPr>
          <p:cNvPicPr>
            <a:picLocks noChangeAspect="1"/>
          </p:cNvPicPr>
          <p:nvPr/>
        </p:nvPicPr>
        <p:blipFill>
          <a:blip r:embed="rId2"/>
          <a:stretch>
            <a:fillRect/>
          </a:stretch>
        </p:blipFill>
        <p:spPr>
          <a:xfrm>
            <a:off x="9077274" y="85293"/>
            <a:ext cx="2323137" cy="746322"/>
          </a:xfrm>
          <a:prstGeom prst="rect">
            <a:avLst/>
          </a:prstGeom>
        </p:spPr>
      </p:pic>
      <p:sp>
        <p:nvSpPr>
          <p:cNvPr id="14" name="Rettangolo 13">
            <a:extLst>
              <a:ext uri="{FF2B5EF4-FFF2-40B4-BE49-F238E27FC236}">
                <a16:creationId xmlns:a16="http://schemas.microsoft.com/office/drawing/2014/main" id="{F788268A-6438-1258-2066-652DD9EEF294}"/>
              </a:ext>
            </a:extLst>
          </p:cNvPr>
          <p:cNvSpPr/>
          <p:nvPr/>
        </p:nvSpPr>
        <p:spPr>
          <a:xfrm>
            <a:off x="4805265" y="1026367"/>
            <a:ext cx="2687217" cy="3545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sp>
        <p:nvSpPr>
          <p:cNvPr id="18" name="CasellaDiTesto 17">
            <a:extLst>
              <a:ext uri="{FF2B5EF4-FFF2-40B4-BE49-F238E27FC236}">
                <a16:creationId xmlns:a16="http://schemas.microsoft.com/office/drawing/2014/main" id="{AE1CF122-61D8-2605-3970-C62B452F67BF}"/>
              </a:ext>
            </a:extLst>
          </p:cNvPr>
          <p:cNvSpPr txBox="1"/>
          <p:nvPr/>
        </p:nvSpPr>
        <p:spPr>
          <a:xfrm>
            <a:off x="3042558" y="1019554"/>
            <a:ext cx="6106884" cy="430887"/>
          </a:xfrm>
          <a:prstGeom prst="rect">
            <a:avLst/>
          </a:prstGeom>
          <a:noFill/>
        </p:spPr>
        <p:txBody>
          <a:bodyPr wrap="square">
            <a:spAutoFit/>
          </a:bodyPr>
          <a:lstStyle/>
          <a:p>
            <a:pPr algn="ctr"/>
            <a:r>
              <a:rPr lang="it-IT" sz="2200" b="1" i="1" dirty="0" err="1">
                <a:solidFill>
                  <a:srgbClr val="193C6A"/>
                </a:solidFill>
                <a:latin typeface="Times New Roman" panose="02020603050405020304" pitchFamily="18" charset="0"/>
                <a:cs typeface="Times New Roman" panose="02020603050405020304" pitchFamily="18" charset="0"/>
              </a:rPr>
              <a:t>Nios</a:t>
            </a:r>
            <a:r>
              <a:rPr lang="it-IT" sz="2200" b="1" i="1" dirty="0">
                <a:solidFill>
                  <a:srgbClr val="193C6A"/>
                </a:solidFill>
                <a:latin typeface="Times New Roman" panose="02020603050405020304" pitchFamily="18" charset="0"/>
                <a:cs typeface="Times New Roman" panose="02020603050405020304" pitchFamily="18" charset="0"/>
              </a:rPr>
              <a:t> V </a:t>
            </a:r>
            <a:r>
              <a:rPr lang="it-IT" sz="2200" b="1" dirty="0">
                <a:solidFill>
                  <a:srgbClr val="193C6A"/>
                </a:solidFill>
                <a:latin typeface="Times New Roman" panose="02020603050405020304" pitchFamily="18" charset="0"/>
                <a:cs typeface="Times New Roman" panose="02020603050405020304" pitchFamily="18" charset="0"/>
              </a:rPr>
              <a:t>ed implementazione su FPGA</a:t>
            </a:r>
            <a:endParaRPr lang="it-IT" sz="2200" b="1" i="1" dirty="0">
              <a:solidFill>
                <a:srgbClr val="193C6A"/>
              </a:solidFill>
              <a:latin typeface="Times New Roman" panose="02020603050405020304" pitchFamily="18" charset="0"/>
              <a:cs typeface="Times New Roman" panose="02020603050405020304" pitchFamily="18" charset="0"/>
            </a:endParaRPr>
          </a:p>
        </p:txBody>
      </p:sp>
      <p:pic>
        <p:nvPicPr>
          <p:cNvPr id="15" name="Immagine 14">
            <a:extLst>
              <a:ext uri="{FF2B5EF4-FFF2-40B4-BE49-F238E27FC236}">
                <a16:creationId xmlns:a16="http://schemas.microsoft.com/office/drawing/2014/main" id="{1A7B9669-7CB6-DDB9-6787-F14FFE9E9C8D}"/>
              </a:ext>
            </a:extLst>
          </p:cNvPr>
          <p:cNvPicPr>
            <a:picLocks noChangeAspect="1"/>
          </p:cNvPicPr>
          <p:nvPr/>
        </p:nvPicPr>
        <p:blipFill>
          <a:blip r:embed="rId3"/>
          <a:stretch>
            <a:fillRect/>
          </a:stretch>
        </p:blipFill>
        <p:spPr>
          <a:xfrm>
            <a:off x="205273" y="2067286"/>
            <a:ext cx="5772896" cy="3140601"/>
          </a:xfrm>
          <a:prstGeom prst="rect">
            <a:avLst/>
          </a:prstGeom>
        </p:spPr>
      </p:pic>
    </p:spTree>
    <p:extLst>
      <p:ext uri="{BB962C8B-B14F-4D97-AF65-F5344CB8AC3E}">
        <p14:creationId xmlns:p14="http://schemas.microsoft.com/office/powerpoint/2010/main" val="1251609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2">
            <a:extLst>
              <a:ext uri="{FF2B5EF4-FFF2-40B4-BE49-F238E27FC236}">
                <a16:creationId xmlns:a16="http://schemas.microsoft.com/office/drawing/2014/main" id="{A24302C3-C5D6-29F2-F7DC-A099024AB3E4}"/>
              </a:ext>
            </a:extLst>
          </p:cNvPr>
          <p:cNvSpPr txBox="1">
            <a:spLocks/>
          </p:cNvSpPr>
          <p:nvPr/>
        </p:nvSpPr>
        <p:spPr>
          <a:xfrm>
            <a:off x="6271309" y="1869942"/>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La seguente tabella riporta i test eseguiti con il processore </a:t>
            </a:r>
            <a:r>
              <a:rPr lang="it-IT" sz="1800" i="1" dirty="0">
                <a:solidFill>
                  <a:srgbClr val="193C6A"/>
                </a:solidFill>
                <a:latin typeface="Times New Roman" panose="02020603050405020304" pitchFamily="18" charset="0"/>
                <a:cs typeface="Times New Roman" panose="02020603050405020304" pitchFamily="18" charset="0"/>
              </a:rPr>
              <a:t>custom</a:t>
            </a:r>
            <a:r>
              <a:rPr lang="it-IT" sz="1800" dirty="0">
                <a:solidFill>
                  <a:srgbClr val="193C6A"/>
                </a:solidFill>
                <a:latin typeface="Times New Roman" panose="02020603050405020304" pitchFamily="18" charset="0"/>
                <a:cs typeface="Times New Roman" panose="02020603050405020304" pitchFamily="18" charset="0"/>
              </a:rPr>
              <a:t>:</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Con la simulazione funzionale è stata assoldata la correttezza logica della microarchitettura;</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L’analisi temporale ha confermato la possibilità di utilizzare il segnale di temporizzazione di 50 MHz messo a disposizione dalla scheda senza violare alcun vincolo;</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L’analisi di potenza è stata effettuata correttamente;</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La FPGA si comporta come previsto;</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Il debug su hardware attraverso lo strumento </a:t>
            </a:r>
            <a:r>
              <a:rPr lang="it-IT" sz="1800" i="1" dirty="0">
                <a:solidFill>
                  <a:srgbClr val="193C6A"/>
                </a:solidFill>
                <a:latin typeface="Times New Roman" panose="02020603050405020304" pitchFamily="18" charset="0"/>
                <a:cs typeface="Times New Roman" panose="02020603050405020304" pitchFamily="18" charset="0"/>
              </a:rPr>
              <a:t>Signal Tap</a:t>
            </a:r>
            <a:r>
              <a:rPr lang="it-IT" sz="1800" dirty="0">
                <a:solidFill>
                  <a:srgbClr val="193C6A"/>
                </a:solidFill>
                <a:latin typeface="Times New Roman" panose="02020603050405020304" pitchFamily="18" charset="0"/>
                <a:cs typeface="Times New Roman" panose="02020603050405020304" pitchFamily="18" charset="0"/>
              </a:rPr>
              <a:t> conferma la correttezza del sistema.</a:t>
            </a:r>
          </a:p>
        </p:txBody>
      </p:sp>
      <p:sp>
        <p:nvSpPr>
          <p:cNvPr id="3" name="Sottotitolo 2">
            <a:extLst>
              <a:ext uri="{FF2B5EF4-FFF2-40B4-BE49-F238E27FC236}">
                <a16:creationId xmlns:a16="http://schemas.microsoft.com/office/drawing/2014/main" id="{F42EAB84-8CCE-0F44-01BD-3C4D50B72C24}"/>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FB172C22-2AB7-18D9-6F8E-C33F2099D5CD}"/>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CCDA9343-DD0A-D0C2-341D-249622F6F174}"/>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CFCE7635-C144-E099-A3FF-FE9D6F070F15}"/>
              </a:ext>
            </a:extLst>
          </p:cNvPr>
          <p:cNvSpPr txBox="1"/>
          <p:nvPr/>
        </p:nvSpPr>
        <p:spPr>
          <a:xfrm>
            <a:off x="3658304" y="32102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9" name="Sottotitolo 2">
            <a:extLst>
              <a:ext uri="{FF2B5EF4-FFF2-40B4-BE49-F238E27FC236}">
                <a16:creationId xmlns:a16="http://schemas.microsoft.com/office/drawing/2014/main" id="{768A091E-E3A6-3D03-7E61-D3B584316932}"/>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Adriano Amorosini</a:t>
            </a:r>
          </a:p>
        </p:txBody>
      </p:sp>
      <p:sp>
        <p:nvSpPr>
          <p:cNvPr id="10" name="Sottotitolo 2">
            <a:extLst>
              <a:ext uri="{FF2B5EF4-FFF2-40B4-BE49-F238E27FC236}">
                <a16:creationId xmlns:a16="http://schemas.microsoft.com/office/drawing/2014/main" id="{58E6941C-135A-EC38-9ACB-C0FE9B5941CF}"/>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8/13</a:t>
            </a:r>
          </a:p>
        </p:txBody>
      </p:sp>
      <p:pic>
        <p:nvPicPr>
          <p:cNvPr id="12" name="Immagine 11">
            <a:extLst>
              <a:ext uri="{FF2B5EF4-FFF2-40B4-BE49-F238E27FC236}">
                <a16:creationId xmlns:a16="http://schemas.microsoft.com/office/drawing/2014/main" id="{76014CDD-84D2-409F-17FE-86805EB0C188}"/>
              </a:ext>
            </a:extLst>
          </p:cNvPr>
          <p:cNvPicPr>
            <a:picLocks noChangeAspect="1"/>
          </p:cNvPicPr>
          <p:nvPr/>
        </p:nvPicPr>
        <p:blipFill>
          <a:blip r:embed="rId2"/>
          <a:stretch>
            <a:fillRect/>
          </a:stretch>
        </p:blipFill>
        <p:spPr>
          <a:xfrm>
            <a:off x="863292" y="1471688"/>
            <a:ext cx="4543101" cy="4774554"/>
          </a:xfrm>
          <a:prstGeom prst="rect">
            <a:avLst/>
          </a:prstGeom>
        </p:spPr>
      </p:pic>
      <p:pic>
        <p:nvPicPr>
          <p:cNvPr id="11" name="Immagine 10">
            <a:extLst>
              <a:ext uri="{FF2B5EF4-FFF2-40B4-BE49-F238E27FC236}">
                <a16:creationId xmlns:a16="http://schemas.microsoft.com/office/drawing/2014/main" id="{59771CFC-BD94-80F6-1CC7-F47936006DF3}"/>
              </a:ext>
            </a:extLst>
          </p:cNvPr>
          <p:cNvPicPr>
            <a:picLocks noChangeAspect="1"/>
          </p:cNvPicPr>
          <p:nvPr/>
        </p:nvPicPr>
        <p:blipFill>
          <a:blip r:embed="rId3"/>
          <a:stretch>
            <a:fillRect/>
          </a:stretch>
        </p:blipFill>
        <p:spPr>
          <a:xfrm>
            <a:off x="9077274" y="85293"/>
            <a:ext cx="2323137" cy="746322"/>
          </a:xfrm>
          <a:prstGeom prst="rect">
            <a:avLst/>
          </a:prstGeom>
        </p:spPr>
      </p:pic>
    </p:spTree>
    <p:extLst>
      <p:ext uri="{BB962C8B-B14F-4D97-AF65-F5344CB8AC3E}">
        <p14:creationId xmlns:p14="http://schemas.microsoft.com/office/powerpoint/2010/main" val="369535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68CC2-2F5A-CDED-AF41-40CF2FC2DBAA}"/>
            </a:ext>
          </a:extLst>
        </p:cNvPr>
        <p:cNvGrpSpPr/>
        <p:nvPr/>
      </p:nvGrpSpPr>
      <p:grpSpPr>
        <a:xfrm>
          <a:off x="0" y="0"/>
          <a:ext cx="0" cy="0"/>
          <a:chOff x="0" y="0"/>
          <a:chExt cx="0" cy="0"/>
        </a:xfrm>
      </p:grpSpPr>
      <p:sp>
        <p:nvSpPr>
          <p:cNvPr id="2" name="Sottotitolo 2">
            <a:extLst>
              <a:ext uri="{FF2B5EF4-FFF2-40B4-BE49-F238E27FC236}">
                <a16:creationId xmlns:a16="http://schemas.microsoft.com/office/drawing/2014/main" id="{65BC59CF-937F-195B-813E-70C5642A8C55}"/>
              </a:ext>
            </a:extLst>
          </p:cNvPr>
          <p:cNvSpPr txBox="1">
            <a:spLocks/>
          </p:cNvSpPr>
          <p:nvPr/>
        </p:nvSpPr>
        <p:spPr>
          <a:xfrm>
            <a:off x="6271309" y="1869942"/>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Di seguito il funzionamento su FPGA del processore </a:t>
            </a:r>
            <a:r>
              <a:rPr lang="it-IT" sz="1800" i="1" dirty="0">
                <a:solidFill>
                  <a:srgbClr val="193C6A"/>
                </a:solidFill>
                <a:latin typeface="Times New Roman" panose="02020603050405020304" pitchFamily="18" charset="0"/>
                <a:cs typeface="Times New Roman" panose="02020603050405020304" pitchFamily="18" charset="0"/>
              </a:rPr>
              <a:t>custom:</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Con lo </a:t>
            </a:r>
            <a:r>
              <a:rPr lang="it-IT" sz="1800" i="1" dirty="0">
                <a:solidFill>
                  <a:srgbClr val="193C6A"/>
                </a:solidFill>
                <a:latin typeface="Times New Roman" panose="02020603050405020304" pitchFamily="18" charset="0"/>
                <a:cs typeface="Times New Roman" panose="02020603050405020304" pitchFamily="18" charset="0"/>
              </a:rPr>
              <a:t>slide switch </a:t>
            </a:r>
            <a:r>
              <a:rPr lang="it-IT" sz="1800" dirty="0">
                <a:solidFill>
                  <a:srgbClr val="193C6A"/>
                </a:solidFill>
                <a:latin typeface="Times New Roman" panose="02020603050405020304" pitchFamily="18" charset="0"/>
                <a:cs typeface="Times New Roman" panose="02020603050405020304" pitchFamily="18" charset="0"/>
              </a:rPr>
              <a:t>è possibile abilitare o meno il display;</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Con il </a:t>
            </a:r>
            <a:r>
              <a:rPr lang="it-IT" sz="1800" i="1" dirty="0" err="1">
                <a:solidFill>
                  <a:srgbClr val="193C6A"/>
                </a:solidFill>
                <a:latin typeface="Times New Roman" panose="02020603050405020304" pitchFamily="18" charset="0"/>
                <a:cs typeface="Times New Roman" panose="02020603050405020304" pitchFamily="18" charset="0"/>
              </a:rPr>
              <a:t>push</a:t>
            </a:r>
            <a:r>
              <a:rPr lang="it-IT" sz="1800" i="1" dirty="0">
                <a:solidFill>
                  <a:srgbClr val="193C6A"/>
                </a:solidFill>
                <a:latin typeface="Times New Roman" panose="02020603050405020304" pitchFamily="18" charset="0"/>
                <a:cs typeface="Times New Roman" panose="02020603050405020304" pitchFamily="18" charset="0"/>
              </a:rPr>
              <a:t> </a:t>
            </a:r>
            <a:r>
              <a:rPr lang="it-IT" sz="1800" i="1" dirty="0" err="1">
                <a:solidFill>
                  <a:srgbClr val="193C6A"/>
                </a:solidFill>
                <a:latin typeface="Times New Roman" panose="02020603050405020304" pitchFamily="18" charset="0"/>
                <a:cs typeface="Times New Roman" panose="02020603050405020304" pitchFamily="18" charset="0"/>
              </a:rPr>
              <a:t>button</a:t>
            </a:r>
            <a:r>
              <a:rPr lang="it-IT" sz="1800" i="1" dirty="0">
                <a:solidFill>
                  <a:srgbClr val="193C6A"/>
                </a:solidFill>
                <a:latin typeface="Times New Roman" panose="02020603050405020304" pitchFamily="18" charset="0"/>
                <a:cs typeface="Times New Roman" panose="02020603050405020304" pitchFamily="18" charset="0"/>
              </a:rPr>
              <a:t> </a:t>
            </a:r>
            <a:r>
              <a:rPr lang="it-IT" sz="1800" dirty="0">
                <a:solidFill>
                  <a:srgbClr val="193C6A"/>
                </a:solidFill>
                <a:latin typeface="Times New Roman" panose="02020603050405020304" pitchFamily="18" charset="0"/>
                <a:cs typeface="Times New Roman" panose="02020603050405020304" pitchFamily="18" charset="0"/>
              </a:rPr>
              <a:t>è possibile </a:t>
            </a:r>
            <a:r>
              <a:rPr lang="it-IT" sz="1800" dirty="0" err="1">
                <a:solidFill>
                  <a:srgbClr val="193C6A"/>
                </a:solidFill>
                <a:latin typeface="Times New Roman" panose="02020603050405020304" pitchFamily="18" charset="0"/>
                <a:cs typeface="Times New Roman" panose="02020603050405020304" pitchFamily="18" charset="0"/>
              </a:rPr>
              <a:t>ciclare</a:t>
            </a:r>
            <a:r>
              <a:rPr lang="it-IT" sz="1800" dirty="0">
                <a:solidFill>
                  <a:srgbClr val="193C6A"/>
                </a:solidFill>
                <a:latin typeface="Times New Roman" panose="02020603050405020304" pitchFamily="18" charset="0"/>
                <a:cs typeface="Times New Roman" panose="02020603050405020304" pitchFamily="18" charset="0"/>
              </a:rPr>
              <a:t> opportunamente i programmi, </a:t>
            </a:r>
            <a:r>
              <a:rPr lang="it-IT" sz="1800" i="1" dirty="0">
                <a:solidFill>
                  <a:srgbClr val="193C6A"/>
                </a:solidFill>
                <a:latin typeface="Times New Roman" panose="02020603050405020304" pitchFamily="18" charset="0"/>
                <a:cs typeface="Times New Roman" panose="02020603050405020304" pitchFamily="18" charset="0"/>
              </a:rPr>
              <a:t>resettando</a:t>
            </a:r>
            <a:r>
              <a:rPr lang="it-IT" sz="1800" dirty="0">
                <a:solidFill>
                  <a:srgbClr val="193C6A"/>
                </a:solidFill>
                <a:latin typeface="Times New Roman" panose="02020603050405020304" pitchFamily="18" charset="0"/>
                <a:cs typeface="Times New Roman" panose="02020603050405020304" pitchFamily="18" charset="0"/>
              </a:rPr>
              <a:t> lo stato del processore ad ogni cambio di esecuzione.</a:t>
            </a:r>
          </a:p>
        </p:txBody>
      </p:sp>
      <p:sp>
        <p:nvSpPr>
          <p:cNvPr id="3" name="Sottotitolo 2">
            <a:extLst>
              <a:ext uri="{FF2B5EF4-FFF2-40B4-BE49-F238E27FC236}">
                <a16:creationId xmlns:a16="http://schemas.microsoft.com/office/drawing/2014/main" id="{E73F9025-641D-64CD-5FD9-D14E1B4601C4}"/>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8A038F40-6827-678A-23FF-0D91C39B0441}"/>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1A0D209E-0FDD-0528-A160-A07CCF68A76E}"/>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B4DA97D7-C032-2931-EF85-2E5C0E518789}"/>
              </a:ext>
            </a:extLst>
          </p:cNvPr>
          <p:cNvSpPr txBox="1"/>
          <p:nvPr/>
        </p:nvSpPr>
        <p:spPr>
          <a:xfrm>
            <a:off x="3658304" y="32102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9" name="Sottotitolo 2">
            <a:extLst>
              <a:ext uri="{FF2B5EF4-FFF2-40B4-BE49-F238E27FC236}">
                <a16:creationId xmlns:a16="http://schemas.microsoft.com/office/drawing/2014/main" id="{860B962B-C83C-D577-AAFA-1AFBF6DB99BA}"/>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Adriano Amorosini</a:t>
            </a:r>
          </a:p>
        </p:txBody>
      </p:sp>
      <p:sp>
        <p:nvSpPr>
          <p:cNvPr id="10" name="Sottotitolo 2">
            <a:extLst>
              <a:ext uri="{FF2B5EF4-FFF2-40B4-BE49-F238E27FC236}">
                <a16:creationId xmlns:a16="http://schemas.microsoft.com/office/drawing/2014/main" id="{D033D73D-4E26-54E6-1E90-5F1A7BD32541}"/>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9/13</a:t>
            </a:r>
          </a:p>
        </p:txBody>
      </p:sp>
      <p:pic>
        <p:nvPicPr>
          <p:cNvPr id="11" name="Immagine 10">
            <a:extLst>
              <a:ext uri="{FF2B5EF4-FFF2-40B4-BE49-F238E27FC236}">
                <a16:creationId xmlns:a16="http://schemas.microsoft.com/office/drawing/2014/main" id="{EE33D06B-476B-63C9-045A-1BE44C63C40B}"/>
              </a:ext>
            </a:extLst>
          </p:cNvPr>
          <p:cNvPicPr>
            <a:picLocks noChangeAspect="1"/>
          </p:cNvPicPr>
          <p:nvPr/>
        </p:nvPicPr>
        <p:blipFill>
          <a:blip r:embed="rId4"/>
          <a:stretch>
            <a:fillRect/>
          </a:stretch>
        </p:blipFill>
        <p:spPr>
          <a:xfrm>
            <a:off x="9077274" y="85293"/>
            <a:ext cx="2323137" cy="746322"/>
          </a:xfrm>
          <a:prstGeom prst="rect">
            <a:avLst/>
          </a:prstGeom>
        </p:spPr>
      </p:pic>
      <p:pic>
        <p:nvPicPr>
          <p:cNvPr id="4" name="IMG_0303">
            <a:hlinkClick r:id="" action="ppaction://media"/>
            <a:extLst>
              <a:ext uri="{FF2B5EF4-FFF2-40B4-BE49-F238E27FC236}">
                <a16:creationId xmlns:a16="http://schemas.microsoft.com/office/drawing/2014/main" id="{14229322-9D78-3402-F1D9-F748A65B9F2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27977" y="1630831"/>
            <a:ext cx="5730827" cy="4217157"/>
          </a:xfrm>
          <a:prstGeom prst="rect">
            <a:avLst/>
          </a:prstGeom>
        </p:spPr>
      </p:pic>
    </p:spTree>
    <p:extLst>
      <p:ext uri="{BB962C8B-B14F-4D97-AF65-F5344CB8AC3E}">
        <p14:creationId xmlns:p14="http://schemas.microsoft.com/office/powerpoint/2010/main" val="2169072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5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606A-B1A3-19DE-347F-453990A2526D}"/>
            </a:ext>
          </a:extLst>
        </p:cNvPr>
        <p:cNvGrpSpPr/>
        <p:nvPr/>
      </p:nvGrpSpPr>
      <p:grpSpPr>
        <a:xfrm>
          <a:off x="0" y="0"/>
          <a:ext cx="0" cy="0"/>
          <a:chOff x="0" y="0"/>
          <a:chExt cx="0" cy="0"/>
        </a:xfrm>
      </p:grpSpPr>
      <p:sp>
        <p:nvSpPr>
          <p:cNvPr id="2" name="Sottotitolo 2">
            <a:extLst>
              <a:ext uri="{FF2B5EF4-FFF2-40B4-BE49-F238E27FC236}">
                <a16:creationId xmlns:a16="http://schemas.microsoft.com/office/drawing/2014/main" id="{CAAECE1C-58DC-600A-A207-698DDD341D67}"/>
              </a:ext>
            </a:extLst>
          </p:cNvPr>
          <p:cNvSpPr txBox="1">
            <a:spLocks/>
          </p:cNvSpPr>
          <p:nvPr/>
        </p:nvSpPr>
        <p:spPr>
          <a:xfrm>
            <a:off x="6271309" y="1869942"/>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La seguente tabella riporta i test eseguiti con il processore proprietario:</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L’analisi temporale ha confermato la possibilità di utilizzare il segnale di temporizzazione di 50 MHz messo a disposizione dalla scheda senza violare alcun vincolo;</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L’analisi di potenza è stata effettuata correttamente;</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La FPGA si comporta come previsto;</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Il debug su hardware attraverso lo strumento </a:t>
            </a:r>
            <a:r>
              <a:rPr lang="it-IT" sz="1800" i="1" dirty="0">
                <a:solidFill>
                  <a:srgbClr val="193C6A"/>
                </a:solidFill>
                <a:latin typeface="Times New Roman" panose="02020603050405020304" pitchFamily="18" charset="0"/>
                <a:cs typeface="Times New Roman" panose="02020603050405020304" pitchFamily="18" charset="0"/>
              </a:rPr>
              <a:t>Signal Tap</a:t>
            </a:r>
            <a:r>
              <a:rPr lang="it-IT" sz="1800" dirty="0">
                <a:solidFill>
                  <a:srgbClr val="193C6A"/>
                </a:solidFill>
                <a:latin typeface="Times New Roman" panose="02020603050405020304" pitchFamily="18" charset="0"/>
                <a:cs typeface="Times New Roman" panose="02020603050405020304" pitchFamily="18" charset="0"/>
              </a:rPr>
              <a:t> conferma la correttezza del sistema.</a:t>
            </a:r>
          </a:p>
          <a:p>
            <a:pPr marL="285750" indent="-285750" algn="l">
              <a:lnSpc>
                <a:spcPct val="100000"/>
              </a:lnSpc>
              <a:buFont typeface="Arial" panose="020B0604020202020204" pitchFamily="34" charset="0"/>
              <a:buChar char="•"/>
            </a:pPr>
            <a:r>
              <a:rPr lang="it-IT" sz="1800" dirty="0">
                <a:solidFill>
                  <a:srgbClr val="193C6A"/>
                </a:solidFill>
                <a:latin typeface="Times New Roman" panose="02020603050405020304" pitchFamily="18" charset="0"/>
                <a:cs typeface="Times New Roman" panose="02020603050405020304" pitchFamily="18" charset="0"/>
              </a:rPr>
              <a:t>I risultati ottenuti sono leggermente migliori rispetto alla precedente soluzione</a:t>
            </a:r>
          </a:p>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3" name="Sottotitolo 2">
            <a:extLst>
              <a:ext uri="{FF2B5EF4-FFF2-40B4-BE49-F238E27FC236}">
                <a16:creationId xmlns:a16="http://schemas.microsoft.com/office/drawing/2014/main" id="{07A82233-656E-455F-A335-1F43C2B5550F}"/>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33B44392-15B1-0ABF-FFFD-16F78C00E321}"/>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07CA7189-F4F0-14AB-BC79-EE3E6AAB799A}"/>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9FFC7A9B-4C8F-749B-2244-9E127681EB5F}"/>
              </a:ext>
            </a:extLst>
          </p:cNvPr>
          <p:cNvSpPr txBox="1"/>
          <p:nvPr/>
        </p:nvSpPr>
        <p:spPr>
          <a:xfrm>
            <a:off x="3658304" y="32102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9" name="Sottotitolo 2">
            <a:extLst>
              <a:ext uri="{FF2B5EF4-FFF2-40B4-BE49-F238E27FC236}">
                <a16:creationId xmlns:a16="http://schemas.microsoft.com/office/drawing/2014/main" id="{1EB8D002-59C8-6425-ABCC-C61A36B403B3}"/>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Nome Cognome</a:t>
            </a:r>
          </a:p>
        </p:txBody>
      </p:sp>
      <p:sp>
        <p:nvSpPr>
          <p:cNvPr id="10" name="Sottotitolo 2">
            <a:extLst>
              <a:ext uri="{FF2B5EF4-FFF2-40B4-BE49-F238E27FC236}">
                <a16:creationId xmlns:a16="http://schemas.microsoft.com/office/drawing/2014/main" id="{38C52CCE-67C7-D29F-5CD4-EDA7A321C30B}"/>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10/13</a:t>
            </a:r>
          </a:p>
        </p:txBody>
      </p:sp>
      <p:pic>
        <p:nvPicPr>
          <p:cNvPr id="11" name="Immagine 10">
            <a:extLst>
              <a:ext uri="{FF2B5EF4-FFF2-40B4-BE49-F238E27FC236}">
                <a16:creationId xmlns:a16="http://schemas.microsoft.com/office/drawing/2014/main" id="{C171F53C-2634-4201-398D-304344571A78}"/>
              </a:ext>
            </a:extLst>
          </p:cNvPr>
          <p:cNvPicPr>
            <a:picLocks noChangeAspect="1"/>
          </p:cNvPicPr>
          <p:nvPr/>
        </p:nvPicPr>
        <p:blipFill>
          <a:blip r:embed="rId2"/>
          <a:stretch>
            <a:fillRect/>
          </a:stretch>
        </p:blipFill>
        <p:spPr>
          <a:xfrm>
            <a:off x="774295" y="1988093"/>
            <a:ext cx="5235394" cy="3741744"/>
          </a:xfrm>
          <a:prstGeom prst="rect">
            <a:avLst/>
          </a:prstGeom>
        </p:spPr>
      </p:pic>
      <p:pic>
        <p:nvPicPr>
          <p:cNvPr id="12" name="Immagine 11">
            <a:extLst>
              <a:ext uri="{FF2B5EF4-FFF2-40B4-BE49-F238E27FC236}">
                <a16:creationId xmlns:a16="http://schemas.microsoft.com/office/drawing/2014/main" id="{4543440E-BEC3-8A3E-B877-1A66C14AD9D1}"/>
              </a:ext>
            </a:extLst>
          </p:cNvPr>
          <p:cNvPicPr>
            <a:picLocks noChangeAspect="1"/>
          </p:cNvPicPr>
          <p:nvPr/>
        </p:nvPicPr>
        <p:blipFill>
          <a:blip r:embed="rId3"/>
          <a:stretch>
            <a:fillRect/>
          </a:stretch>
        </p:blipFill>
        <p:spPr>
          <a:xfrm>
            <a:off x="9077274" y="85293"/>
            <a:ext cx="2323137" cy="746322"/>
          </a:xfrm>
          <a:prstGeom prst="rect">
            <a:avLst/>
          </a:prstGeom>
        </p:spPr>
      </p:pic>
    </p:spTree>
    <p:extLst>
      <p:ext uri="{BB962C8B-B14F-4D97-AF65-F5344CB8AC3E}">
        <p14:creationId xmlns:p14="http://schemas.microsoft.com/office/powerpoint/2010/main" val="3207262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5AD37-8E86-7CC5-A92A-44D64D738DDA}"/>
            </a:ext>
          </a:extLst>
        </p:cNvPr>
        <p:cNvGrpSpPr/>
        <p:nvPr/>
      </p:nvGrpSpPr>
      <p:grpSpPr>
        <a:xfrm>
          <a:off x="0" y="0"/>
          <a:ext cx="0" cy="0"/>
          <a:chOff x="0" y="0"/>
          <a:chExt cx="0" cy="0"/>
        </a:xfrm>
      </p:grpSpPr>
      <p:sp>
        <p:nvSpPr>
          <p:cNvPr id="2" name="Sottotitolo 2">
            <a:extLst>
              <a:ext uri="{FF2B5EF4-FFF2-40B4-BE49-F238E27FC236}">
                <a16:creationId xmlns:a16="http://schemas.microsoft.com/office/drawing/2014/main" id="{B31EEFE9-77E3-D899-4A05-4C0AAF62FB23}"/>
              </a:ext>
            </a:extLst>
          </p:cNvPr>
          <p:cNvSpPr txBox="1">
            <a:spLocks/>
          </p:cNvSpPr>
          <p:nvPr/>
        </p:nvSpPr>
        <p:spPr>
          <a:xfrm>
            <a:off x="6271309" y="1869942"/>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Di seguito il funzionamento su FPGA del processore </a:t>
            </a:r>
            <a:r>
              <a:rPr lang="it-IT" sz="1800" i="1" dirty="0">
                <a:solidFill>
                  <a:srgbClr val="193C6A"/>
                </a:solidFill>
                <a:latin typeface="Times New Roman" panose="02020603050405020304" pitchFamily="18" charset="0"/>
                <a:cs typeface="Times New Roman" panose="02020603050405020304" pitchFamily="18" charset="0"/>
              </a:rPr>
              <a:t>custom:</a:t>
            </a:r>
          </a:p>
          <a:p>
            <a:pPr marL="285750" indent="-285750" algn="l">
              <a:lnSpc>
                <a:spcPct val="100000"/>
              </a:lnSpc>
              <a:buFont typeface="Arial" panose="020B0604020202020204" pitchFamily="34" charset="0"/>
              <a:buChar char="•"/>
            </a:pPr>
            <a:r>
              <a:rPr lang="it-IT" sz="1800" i="1" dirty="0">
                <a:solidFill>
                  <a:srgbClr val="193C6A"/>
                </a:solidFill>
                <a:latin typeface="Times New Roman" panose="02020603050405020304" pitchFamily="18" charset="0"/>
                <a:cs typeface="Times New Roman" panose="02020603050405020304" pitchFamily="18" charset="0"/>
              </a:rPr>
              <a:t>Lo slide switch </a:t>
            </a:r>
            <a:r>
              <a:rPr lang="it-IT" sz="1800" dirty="0">
                <a:solidFill>
                  <a:srgbClr val="193C6A"/>
                </a:solidFill>
                <a:latin typeface="Times New Roman" panose="02020603050405020304" pitchFamily="18" charset="0"/>
                <a:cs typeface="Times New Roman" panose="02020603050405020304" pitchFamily="18" charset="0"/>
              </a:rPr>
              <a:t>disabilita o meno il display a seconda che sia basso o viceversa, portando il processore rispettivamente ad uno stato di reset o di normale esecuzione.</a:t>
            </a:r>
          </a:p>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3" name="Sottotitolo 2">
            <a:extLst>
              <a:ext uri="{FF2B5EF4-FFF2-40B4-BE49-F238E27FC236}">
                <a16:creationId xmlns:a16="http://schemas.microsoft.com/office/drawing/2014/main" id="{EFC580BA-1489-85F5-C126-B7A52C141AFE}"/>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926BD463-CCFA-6263-04D1-11AFFBAA108A}"/>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4FB58109-B72A-F8FB-AEA7-C76295708802}"/>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5F5824BB-D506-CB7A-33AC-0FC7BF549E8F}"/>
              </a:ext>
            </a:extLst>
          </p:cNvPr>
          <p:cNvSpPr txBox="1"/>
          <p:nvPr/>
        </p:nvSpPr>
        <p:spPr>
          <a:xfrm>
            <a:off x="3658304" y="321024"/>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9" name="Sottotitolo 2">
            <a:extLst>
              <a:ext uri="{FF2B5EF4-FFF2-40B4-BE49-F238E27FC236}">
                <a16:creationId xmlns:a16="http://schemas.microsoft.com/office/drawing/2014/main" id="{1833D10F-7778-E93B-A30C-5EA6B62455F6}"/>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Nome Cognome</a:t>
            </a:r>
          </a:p>
        </p:txBody>
      </p:sp>
      <p:sp>
        <p:nvSpPr>
          <p:cNvPr id="10" name="Sottotitolo 2">
            <a:extLst>
              <a:ext uri="{FF2B5EF4-FFF2-40B4-BE49-F238E27FC236}">
                <a16:creationId xmlns:a16="http://schemas.microsoft.com/office/drawing/2014/main" id="{1CBC3875-E4C0-8F48-9F73-CB70F94DA887}"/>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11/13</a:t>
            </a:r>
          </a:p>
        </p:txBody>
      </p:sp>
      <p:pic>
        <p:nvPicPr>
          <p:cNvPr id="12" name="Immagine 11">
            <a:extLst>
              <a:ext uri="{FF2B5EF4-FFF2-40B4-BE49-F238E27FC236}">
                <a16:creationId xmlns:a16="http://schemas.microsoft.com/office/drawing/2014/main" id="{73148651-8C28-ACD5-41DA-0F0923F0854E}"/>
              </a:ext>
            </a:extLst>
          </p:cNvPr>
          <p:cNvPicPr>
            <a:picLocks noChangeAspect="1"/>
          </p:cNvPicPr>
          <p:nvPr/>
        </p:nvPicPr>
        <p:blipFill>
          <a:blip r:embed="rId4"/>
          <a:stretch>
            <a:fillRect/>
          </a:stretch>
        </p:blipFill>
        <p:spPr>
          <a:xfrm>
            <a:off x="9077274" y="85293"/>
            <a:ext cx="2323137" cy="746322"/>
          </a:xfrm>
          <a:prstGeom prst="rect">
            <a:avLst/>
          </a:prstGeom>
        </p:spPr>
      </p:pic>
      <p:pic>
        <p:nvPicPr>
          <p:cNvPr id="4" name="IMG_0304">
            <a:hlinkClick r:id="" action="ppaction://media"/>
            <a:extLst>
              <a:ext uri="{FF2B5EF4-FFF2-40B4-BE49-F238E27FC236}">
                <a16:creationId xmlns:a16="http://schemas.microsoft.com/office/drawing/2014/main" id="{5D40D1C2-50D1-536F-AECB-9FA4C1B411E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99078" y="1743086"/>
            <a:ext cx="5696922" cy="3978047"/>
          </a:xfrm>
          <a:prstGeom prst="rect">
            <a:avLst/>
          </a:prstGeom>
        </p:spPr>
      </p:pic>
    </p:spTree>
    <p:extLst>
      <p:ext uri="{BB962C8B-B14F-4D97-AF65-F5344CB8AC3E}">
        <p14:creationId xmlns:p14="http://schemas.microsoft.com/office/powerpoint/2010/main" val="264052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7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2">
            <a:extLst>
              <a:ext uri="{FF2B5EF4-FFF2-40B4-BE49-F238E27FC236}">
                <a16:creationId xmlns:a16="http://schemas.microsoft.com/office/drawing/2014/main" id="{2863EDCF-5B70-F4F8-178A-1805ABF5ACF6}"/>
              </a:ext>
            </a:extLst>
          </p:cNvPr>
          <p:cNvSpPr txBox="1">
            <a:spLocks/>
          </p:cNvSpPr>
          <p:nvPr/>
        </p:nvSpPr>
        <p:spPr>
          <a:xfrm>
            <a:off x="6271309" y="1869942"/>
            <a:ext cx="5232708"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Il </a:t>
            </a:r>
            <a:r>
              <a:rPr lang="it-IT" sz="1800" i="1" dirty="0">
                <a:solidFill>
                  <a:srgbClr val="193C6A"/>
                </a:solidFill>
                <a:latin typeface="Times New Roman" panose="02020603050405020304" pitchFamily="18" charset="0"/>
                <a:cs typeface="Times New Roman" panose="02020603050405020304" pitchFamily="18" charset="0"/>
              </a:rPr>
              <a:t>soft-core</a:t>
            </a:r>
            <a:r>
              <a:rPr lang="it-IT" sz="1800" dirty="0">
                <a:solidFill>
                  <a:srgbClr val="193C6A"/>
                </a:solidFill>
                <a:latin typeface="Times New Roman" panose="02020603050405020304" pitchFamily="18" charset="0"/>
                <a:cs typeface="Times New Roman" panose="02020603050405020304" pitchFamily="18" charset="0"/>
              </a:rPr>
              <a:t> RV32I realizzato è stato verificato con successo sia in simulazione sia su FPGA, garantendo la corretta esecuzione dell’intero </a:t>
            </a:r>
            <a:r>
              <a:rPr lang="it-IT" sz="1800" i="1" dirty="0" err="1">
                <a:solidFill>
                  <a:srgbClr val="193C6A"/>
                </a:solidFill>
                <a:latin typeface="Times New Roman" panose="02020603050405020304" pitchFamily="18" charset="0"/>
                <a:cs typeface="Times New Roman" panose="02020603050405020304" pitchFamily="18" charset="0"/>
              </a:rPr>
              <a:t>Instruction</a:t>
            </a:r>
            <a:r>
              <a:rPr lang="it-IT" sz="1800" i="1" dirty="0">
                <a:solidFill>
                  <a:srgbClr val="193C6A"/>
                </a:solidFill>
                <a:latin typeface="Times New Roman" panose="02020603050405020304" pitchFamily="18" charset="0"/>
                <a:cs typeface="Times New Roman" panose="02020603050405020304" pitchFamily="18" charset="0"/>
              </a:rPr>
              <a:t> Set </a:t>
            </a:r>
            <a:r>
              <a:rPr lang="it-IT" sz="1800" dirty="0">
                <a:solidFill>
                  <a:srgbClr val="193C6A"/>
                </a:solidFill>
                <a:latin typeface="Times New Roman" panose="02020603050405020304" pitchFamily="18" charset="0"/>
                <a:cs typeface="Times New Roman" panose="02020603050405020304" pitchFamily="18" charset="0"/>
              </a:rPr>
              <a:t>e il rispetto dei vincoli temporali a 50 MHz.</a:t>
            </a:r>
          </a:p>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Il confronto con il </a:t>
            </a:r>
            <a:r>
              <a:rPr lang="it-IT" sz="1800" i="1" dirty="0">
                <a:solidFill>
                  <a:srgbClr val="193C6A"/>
                </a:solidFill>
                <a:latin typeface="Times New Roman" panose="02020603050405020304" pitchFamily="18" charset="0"/>
                <a:cs typeface="Times New Roman" panose="02020603050405020304" pitchFamily="18" charset="0"/>
              </a:rPr>
              <a:t>core </a:t>
            </a:r>
            <a:r>
              <a:rPr lang="it-IT" sz="1800" i="1" dirty="0" err="1">
                <a:solidFill>
                  <a:srgbClr val="193C6A"/>
                </a:solidFill>
                <a:latin typeface="Times New Roman" panose="02020603050405020304" pitchFamily="18" charset="0"/>
                <a:cs typeface="Times New Roman" panose="02020603050405020304" pitchFamily="18" charset="0"/>
              </a:rPr>
              <a:t>Nios</a:t>
            </a:r>
            <a:r>
              <a:rPr lang="it-IT" sz="1800" i="1" dirty="0">
                <a:solidFill>
                  <a:srgbClr val="193C6A"/>
                </a:solidFill>
                <a:latin typeface="Times New Roman" panose="02020603050405020304" pitchFamily="18" charset="0"/>
                <a:cs typeface="Times New Roman" panose="02020603050405020304" pitchFamily="18" charset="0"/>
              </a:rPr>
              <a:t> V </a:t>
            </a:r>
            <a:r>
              <a:rPr lang="it-IT" sz="1800" dirty="0">
                <a:solidFill>
                  <a:srgbClr val="193C6A"/>
                </a:solidFill>
                <a:latin typeface="Times New Roman" panose="02020603050405020304" pitchFamily="18" charset="0"/>
                <a:cs typeface="Times New Roman" panose="02020603050405020304" pitchFamily="18" charset="0"/>
              </a:rPr>
              <a:t>ha evidenziato prestazioni superiori per la soluzione proprietaria, ma il processore sviluppato offre un controllo completo sull’architettura e sul processo di esecuzione.</a:t>
            </a:r>
          </a:p>
          <a:p>
            <a:pPr algn="l">
              <a:lnSpc>
                <a:spcPct val="100000"/>
              </a:lnSpc>
            </a:pPr>
            <a:r>
              <a:rPr lang="it-IT" sz="1800" dirty="0">
                <a:solidFill>
                  <a:srgbClr val="193C6A"/>
                </a:solidFill>
                <a:latin typeface="Times New Roman" panose="02020603050405020304" pitchFamily="18" charset="0"/>
                <a:cs typeface="Times New Roman" panose="02020603050405020304" pitchFamily="18" charset="0"/>
              </a:rPr>
              <a:t>Possibili sviluppi futuri riguardano l’integrazione di nuove estensioni RISC-V e l’introduzione di un sistema di memoria basato su cache.</a:t>
            </a:r>
          </a:p>
        </p:txBody>
      </p:sp>
      <p:sp>
        <p:nvSpPr>
          <p:cNvPr id="3" name="Sottotitolo 2">
            <a:extLst>
              <a:ext uri="{FF2B5EF4-FFF2-40B4-BE49-F238E27FC236}">
                <a16:creationId xmlns:a16="http://schemas.microsoft.com/office/drawing/2014/main" id="{0DCF368B-E575-EC79-408A-BCD9C4F8E924}"/>
              </a:ext>
            </a:extLst>
          </p:cNvPr>
          <p:cNvSpPr txBox="1"/>
          <p:nvPr/>
        </p:nvSpPr>
        <p:spPr>
          <a:xfrm>
            <a:off x="863292" y="1875011"/>
            <a:ext cx="5057401" cy="397804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it-IT" sz="1800" dirty="0">
              <a:solidFill>
                <a:srgbClr val="193C6A"/>
              </a:solidFill>
              <a:latin typeface="Times New Roman" panose="02020603050405020304" pitchFamily="18" charset="0"/>
              <a:cs typeface="Times New Roman" panose="02020603050405020304" pitchFamily="18" charset="0"/>
            </a:endParaRPr>
          </a:p>
        </p:txBody>
      </p:sp>
      <p:sp>
        <p:nvSpPr>
          <p:cNvPr id="5" name="Sottotitolo 2">
            <a:extLst>
              <a:ext uri="{FF2B5EF4-FFF2-40B4-BE49-F238E27FC236}">
                <a16:creationId xmlns:a16="http://schemas.microsoft.com/office/drawing/2014/main" id="{21BE27C9-123D-1DEE-EAC3-F3554C079FF5}"/>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7" name="Sottotitolo 2">
            <a:extLst>
              <a:ext uri="{FF2B5EF4-FFF2-40B4-BE49-F238E27FC236}">
                <a16:creationId xmlns:a16="http://schemas.microsoft.com/office/drawing/2014/main" id="{58DD5DD9-95DF-1AB1-CF99-D802B451C16B}"/>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sp>
        <p:nvSpPr>
          <p:cNvPr id="8" name="Sottotitolo 2">
            <a:extLst>
              <a:ext uri="{FF2B5EF4-FFF2-40B4-BE49-F238E27FC236}">
                <a16:creationId xmlns:a16="http://schemas.microsoft.com/office/drawing/2014/main" id="{8AB64D1D-CB9B-F7E8-8599-4C89E2632436}"/>
              </a:ext>
            </a:extLst>
          </p:cNvPr>
          <p:cNvSpPr txBox="1"/>
          <p:nvPr/>
        </p:nvSpPr>
        <p:spPr>
          <a:xfrm>
            <a:off x="3636851" y="341225"/>
            <a:ext cx="5673571" cy="65399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2000" b="1" dirty="0">
                <a:solidFill>
                  <a:srgbClr val="193C6A"/>
                </a:solidFill>
                <a:latin typeface="Times New Roman" panose="02020603050405020304" pitchFamily="18" charset="0"/>
                <a:cs typeface="Times New Roman" panose="02020603050405020304" pitchFamily="18" charset="0"/>
              </a:rPr>
              <a:t>Progettazione, implementazione e test di un</a:t>
            </a:r>
          </a:p>
          <a:p>
            <a:r>
              <a:rPr lang="it-IT" sz="2000" b="1" dirty="0">
                <a:solidFill>
                  <a:srgbClr val="193C6A"/>
                </a:solidFill>
                <a:latin typeface="Times New Roman" panose="02020603050405020304" pitchFamily="18" charset="0"/>
                <a:cs typeface="Times New Roman" panose="02020603050405020304" pitchFamily="18" charset="0"/>
              </a:rPr>
              <a:t>soft-processor RISC-V su FPGA</a:t>
            </a:r>
          </a:p>
          <a:p>
            <a:endParaRPr lang="it-IT" sz="2000" b="1" dirty="0">
              <a:solidFill>
                <a:srgbClr val="193C6A"/>
              </a:solidFill>
              <a:latin typeface="Times New Roman" panose="02020603050405020304" pitchFamily="18" charset="0"/>
              <a:cs typeface="Times New Roman" panose="02020603050405020304" pitchFamily="18" charset="0"/>
            </a:endParaRPr>
          </a:p>
        </p:txBody>
      </p:sp>
      <p:sp>
        <p:nvSpPr>
          <p:cNvPr id="9" name="Sottotitolo 2">
            <a:extLst>
              <a:ext uri="{FF2B5EF4-FFF2-40B4-BE49-F238E27FC236}">
                <a16:creationId xmlns:a16="http://schemas.microsoft.com/office/drawing/2014/main" id="{D3D7406E-C7B5-24C7-12FF-45DE3B1DD530}"/>
              </a:ext>
            </a:extLst>
          </p:cNvPr>
          <p:cNvSpPr txBox="1"/>
          <p:nvPr/>
        </p:nvSpPr>
        <p:spPr>
          <a:xfrm>
            <a:off x="7295289" y="6570128"/>
            <a:ext cx="3530971" cy="287871"/>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Adriano Amorosini</a:t>
            </a:r>
          </a:p>
        </p:txBody>
      </p:sp>
      <p:sp>
        <p:nvSpPr>
          <p:cNvPr id="10" name="Sottotitolo 2">
            <a:extLst>
              <a:ext uri="{FF2B5EF4-FFF2-40B4-BE49-F238E27FC236}">
                <a16:creationId xmlns:a16="http://schemas.microsoft.com/office/drawing/2014/main" id="{01172FAB-D683-BC09-B0BF-5C2D7261D51B}"/>
              </a:ext>
            </a:extLst>
          </p:cNvPr>
          <p:cNvSpPr txBox="1">
            <a:spLocks/>
          </p:cNvSpPr>
          <p:nvPr/>
        </p:nvSpPr>
        <p:spPr>
          <a:xfrm>
            <a:off x="10758500" y="6570130"/>
            <a:ext cx="1323839" cy="28786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Times New Roman" panose="02020603050405020304" pitchFamily="18" charset="0"/>
                <a:cs typeface="Times New Roman" panose="02020603050405020304" pitchFamily="18" charset="0"/>
              </a:rPr>
              <a:t>12/13</a:t>
            </a:r>
          </a:p>
        </p:txBody>
      </p:sp>
      <p:pic>
        <p:nvPicPr>
          <p:cNvPr id="12" name="Immagine 11">
            <a:extLst>
              <a:ext uri="{FF2B5EF4-FFF2-40B4-BE49-F238E27FC236}">
                <a16:creationId xmlns:a16="http://schemas.microsoft.com/office/drawing/2014/main" id="{A23EC716-8D91-8931-1CCE-043A172D8715}"/>
              </a:ext>
            </a:extLst>
          </p:cNvPr>
          <p:cNvPicPr>
            <a:picLocks noChangeAspect="1"/>
          </p:cNvPicPr>
          <p:nvPr/>
        </p:nvPicPr>
        <p:blipFill>
          <a:blip r:embed="rId2"/>
          <a:stretch>
            <a:fillRect/>
          </a:stretch>
        </p:blipFill>
        <p:spPr>
          <a:xfrm>
            <a:off x="435043" y="2460637"/>
            <a:ext cx="5644088" cy="2240618"/>
          </a:xfrm>
          <a:prstGeom prst="rect">
            <a:avLst/>
          </a:prstGeom>
        </p:spPr>
      </p:pic>
      <p:pic>
        <p:nvPicPr>
          <p:cNvPr id="11" name="Immagine 10">
            <a:extLst>
              <a:ext uri="{FF2B5EF4-FFF2-40B4-BE49-F238E27FC236}">
                <a16:creationId xmlns:a16="http://schemas.microsoft.com/office/drawing/2014/main" id="{7738089B-E03E-DD58-101A-7342BAE1F23C}"/>
              </a:ext>
            </a:extLst>
          </p:cNvPr>
          <p:cNvPicPr>
            <a:picLocks noChangeAspect="1"/>
          </p:cNvPicPr>
          <p:nvPr/>
        </p:nvPicPr>
        <p:blipFill>
          <a:blip r:embed="rId3"/>
          <a:stretch>
            <a:fillRect/>
          </a:stretch>
        </p:blipFill>
        <p:spPr>
          <a:xfrm>
            <a:off x="9077274" y="85293"/>
            <a:ext cx="2323137" cy="746322"/>
          </a:xfrm>
          <a:prstGeom prst="rect">
            <a:avLst/>
          </a:prstGeom>
        </p:spPr>
      </p:pic>
    </p:spTree>
    <p:extLst>
      <p:ext uri="{BB962C8B-B14F-4D97-AF65-F5344CB8AC3E}">
        <p14:creationId xmlns:p14="http://schemas.microsoft.com/office/powerpoint/2010/main" val="2687174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5168356"/>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93C6A"/>
        </a:solidFill>
        <a:ln>
          <a:noFill/>
        </a:ln>
      </a:spPr>
      <a:bodyPr rtlCol="0" anchor="ctr"/>
      <a:lstStyle>
        <a:defPPr algn="ctr">
          <a:defRPr>
            <a:solidFill>
              <a:schemeClr val="bg1">
                <a:lumMod val="75000"/>
              </a:schemeClr>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4467</TotalTime>
  <Words>1096</Words>
  <Application>Microsoft Office PowerPoint</Application>
  <PresentationFormat>Widescreen</PresentationFormat>
  <Paragraphs>93</Paragraphs>
  <Slides>13</Slides>
  <Notes>0</Notes>
  <HiddenSlides>0</HiddenSlides>
  <MMClips>2</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13</vt:i4>
      </vt:variant>
    </vt:vector>
  </HeadingPairs>
  <TitlesOfParts>
    <vt:vector size="17" baseType="lpstr">
      <vt:lpstr>Aptos</vt:lpstr>
      <vt:lpstr>Arial</vt:lpstr>
      <vt:lpstr>Times New Roman</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Prof. Silvano Vergura</dc:creator>
  <cp:lastModifiedBy>AMOROSINI ADRIANO</cp:lastModifiedBy>
  <cp:revision>19</cp:revision>
  <dcterms:created xsi:type="dcterms:W3CDTF">2024-03-15T14:04:56Z</dcterms:created>
  <dcterms:modified xsi:type="dcterms:W3CDTF">2026-07-08T07:47:52Z</dcterms:modified>
</cp:coreProperties>
</file>